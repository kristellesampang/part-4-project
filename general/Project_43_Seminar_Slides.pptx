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5"/>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ooper Hewitt" panose="020B0604020202020204" charset="0"/>
      <p:regular r:id="rId17"/>
    </p:embeddedFont>
    <p:embeddedFont>
      <p:font typeface="Cooper Hewitt Bold" panose="020B0604020202020204" charset="0"/>
      <p:regular r:id="rId18"/>
    </p:embeddedFont>
    <p:embeddedFont>
      <p:font typeface="DM Sans" pitchFamily="2" charset="0"/>
      <p:regular r:id="rId19"/>
    </p:embeddedFont>
    <p:embeddedFont>
      <p:font typeface="DM Sans Bold" panose="020B0604020202020204" charset="0"/>
      <p:regular r:id="rId20"/>
    </p:embeddedFont>
    <p:embeddedFont>
      <p:font typeface="Mokoto Glitch 2"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font" Target="fonts/font2.fntdata"/><Relationship Id="rId3" Type="http://schemas.openxmlformats.org/officeDocument/2006/relationships/customXml" Target="../customXml/item3.xml"/><Relationship Id="rId21" Type="http://schemas.openxmlformats.org/officeDocument/2006/relationships/font" Target="fonts/font5.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font" Target="fonts/font3.fntdata"/><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26.07.2025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Introduce ourselves and say the title of the project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how machine learning has now integrated into the world of embedded systems like objection recognition </a:t>
            </a:r>
          </a:p>
          <a:p>
            <a:endParaRPr lang="en-US"/>
          </a:p>
          <a:p>
            <a:r>
              <a:rPr lang="en-US"/>
              <a:t>- specifically looking into edge device which are resource limited </a:t>
            </a:r>
          </a:p>
          <a:p>
            <a:endParaRPr lang="en-US"/>
          </a:p>
          <a:p>
            <a:r>
              <a:rPr lang="en-US"/>
              <a:t>- current implementations for ML inference in typical everyday computer are not powerful enough </a:t>
            </a:r>
          </a:p>
          <a:p>
            <a:endParaRPr lang="en-US"/>
          </a:p>
          <a:p>
            <a:r>
              <a:rPr lang="en-US"/>
              <a:t>- we want a hardware accelerator to reduce the power used and increase energy-efficiency </a:t>
            </a:r>
          </a:p>
          <a:p>
            <a:endParaRPr lang="en-US"/>
          </a:p>
          <a:p>
            <a:endParaRPr lang="en-US"/>
          </a:p>
          <a:p>
            <a:r>
              <a:rPr lang="en-US"/>
              <a:t>Nowadays AI and ML is everywhere, especially in embedded systems on edge devices. ML is very popular in cases such as object recognition, tracking. However deploying these algorithms on edge devices is challenging due to limited hardware resources.</a:t>
            </a:r>
          </a:p>
          <a:p>
            <a:endParaRPr lang="en-US"/>
          </a:p>
          <a:p>
            <a:r>
              <a:rPr lang="en-US"/>
              <a:t>Traditional CPUs and GPUs are not optimised for these workloads at the edge, which is why specialised hardware such as a Neural Processing Units (NPU) are being explored to increase energy efficiency and maintain a higher performance during inference.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As ML continue to develop and evolve, we want to create a reconfigurable hardware accelerator that can adapt to many types of models</a:t>
            </a:r>
          </a:p>
          <a:p>
            <a:endParaRPr lang="en-US"/>
          </a:p>
          <a:p>
            <a:r>
              <a:rPr lang="en-US"/>
              <a:t>- From the literature, we have found that systolic arrays are a popular choice to be used as the datapath of the NPU. </a:t>
            </a:r>
          </a:p>
          <a:p>
            <a:endParaRPr lang="en-US"/>
          </a:p>
          <a:p>
            <a:r>
              <a:rPr lang="en-US"/>
              <a:t>- so what is a systolic array? </a:t>
            </a:r>
          </a:p>
          <a:p>
            <a:endParaRPr lang="en-US"/>
          </a:p>
          <a:p>
            <a:r>
              <a:rPr lang="en-US"/>
              <a:t>- The way systolic array works is like a heart. </a:t>
            </a:r>
          </a:p>
          <a:p>
            <a:endParaRPr lang="en-US"/>
          </a:p>
          <a:p>
            <a:r>
              <a:rPr lang="en-US"/>
              <a:t>- When a heart beats, it fills up with blood and propagates through the vessels</a:t>
            </a:r>
          </a:p>
          <a:p>
            <a:endParaRPr lang="en-US"/>
          </a:p>
          <a:p>
            <a:r>
              <a:rPr lang="en-US"/>
              <a:t>- With a systolic array, the vessels are the processing elements. </a:t>
            </a:r>
          </a:p>
          <a:p>
            <a:endParaRPr lang="en-US"/>
          </a:p>
          <a:p>
            <a:r>
              <a:rPr lang="en-US"/>
              <a:t>- The blood is the input data and weights.</a:t>
            </a:r>
          </a:p>
          <a:p>
            <a:endParaRPr lang="en-US"/>
          </a:p>
          <a:p>
            <a:r>
              <a:rPr lang="en-US"/>
              <a:t>- And with every pump - or clock cycle - data moves onto the next processing element.</a:t>
            </a:r>
          </a:p>
          <a:p>
            <a:endParaRPr lang="en-US"/>
          </a:p>
          <a:p>
            <a:r>
              <a:rPr lang="en-US"/>
              <a:t>- This version of the systolic array has data flowing horizontally and vertically</a:t>
            </a:r>
          </a:p>
          <a:p>
            <a:endParaRPr lang="en-US"/>
          </a:p>
          <a:p>
            <a:r>
              <a:rPr lang="en-US"/>
              <a:t>- this is a big advantage as it can pass data without needing to access memory</a:t>
            </a:r>
          </a:p>
          <a:p>
            <a:endParaRPr lang="en-US"/>
          </a:p>
          <a:p>
            <a:r>
              <a:rPr lang="en-US"/>
              <a:t>- because of this structured data flow, the workload is efficient especially dense matrices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HALF THIS PL, reached 5 mins by the end of this slide</a:t>
            </a:r>
          </a:p>
          <a:p>
            <a:endParaRPr lang="en-US"/>
          </a:p>
          <a:p>
            <a:r>
              <a:rPr lang="en-US"/>
              <a:t>-the outputs of the trained ML models can give sparse matrices, </a:t>
            </a:r>
          </a:p>
          <a:p>
            <a:r>
              <a:rPr lang="en-US"/>
              <a:t>- doing MAC operations on zeros is just computiopnally useless because everything times zero is zero</a:t>
            </a:r>
          </a:p>
          <a:p>
            <a:endParaRPr lang="en-US"/>
          </a:p>
          <a:p>
            <a:r>
              <a:rPr lang="en-US"/>
              <a:t>- So as part of our research, it is important to understand how sparsity impacts the performance and efficiency of systolic areas due to techniques such as the ReLU activation and weight pruning. </a:t>
            </a:r>
          </a:p>
          <a:p>
            <a:endParaRPr lang="en-US"/>
          </a:p>
          <a:p>
            <a:r>
              <a:rPr lang="en-US"/>
              <a:t>- As we know, accessing memory is computationally resourceful</a:t>
            </a:r>
          </a:p>
          <a:p>
            <a:r>
              <a:rPr lang="en-US"/>
              <a:t>-  Frequent memory accesses cause a higher consumption of energy, more than the computations from the systolic array.</a:t>
            </a:r>
          </a:p>
          <a:p>
            <a:endParaRPr lang="en-US"/>
          </a:p>
          <a:p>
            <a:endParaRPr lang="en-US"/>
          </a:p>
          <a:p>
            <a:r>
              <a:rPr lang="en-US"/>
              <a:t>Hypothesis:</a:t>
            </a:r>
          </a:p>
          <a:p>
            <a:r>
              <a:rPr lang="en-US"/>
              <a:t>Based upon these issues, we must design a reconfigurable systolic array-based NPU controlled by a softcore processor to dynamically adapt the accelerator to different model requirements, data sparsity and application needs.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So what does the NPU actually do?</a:t>
            </a:r>
          </a:p>
          <a:p>
            <a:endParaRPr lang="en-US"/>
          </a:p>
          <a:p>
            <a:r>
              <a:rPr lang="en-US"/>
              <a:t>- Well, to do inferencing, it needs to do some matrix multiplication </a:t>
            </a:r>
          </a:p>
          <a:p>
            <a:endParaRPr lang="en-US"/>
          </a:p>
          <a:p>
            <a:r>
              <a:rPr lang="en-US"/>
              <a:t>- The purpose of each PE is to perform a multiply and accumulate operation that we can do a matrix multiplication on A*B</a:t>
            </a:r>
          </a:p>
          <a:p>
            <a:endParaRPr lang="en-US"/>
          </a:p>
          <a:p>
            <a:endParaRPr lang="en-US"/>
          </a:p>
          <a:p>
            <a:r>
              <a:rPr lang="en-US"/>
              <a:t>- But we need a way to input data so that it makes sense mathematically</a:t>
            </a:r>
          </a:p>
          <a:p>
            <a:endParaRPr lang="en-US"/>
          </a:p>
          <a:p>
            <a:r>
              <a:rPr lang="en-US"/>
              <a:t>- we need to find a way to control this! this is what the control unit is for</a:t>
            </a:r>
          </a:p>
          <a:p>
            <a:endParaRPr lang="en-US"/>
          </a:p>
          <a:p>
            <a:endParaRPr lang="en-US"/>
          </a:p>
          <a:p>
            <a:r>
              <a:rPr lang="en-US"/>
              <a:t>- So, we have a staggered input</a:t>
            </a:r>
          </a:p>
          <a:p>
            <a:endParaRPr lang="en-US"/>
          </a:p>
          <a:p>
            <a:r>
              <a:rPr lang="en-US"/>
              <a:t>- not all the PEs will start with data, we start filling in from the top left PE</a:t>
            </a:r>
          </a:p>
          <a:p>
            <a:r>
              <a:rPr lang="en-US"/>
              <a:t>- then at every clock cycle the data will propogate shown by the arrows that act simliarly to a wave</a:t>
            </a:r>
          </a:p>
          <a:p>
            <a:endParaRPr lang="en-US"/>
          </a:p>
          <a:p>
            <a:endParaRPr lang="en-US"/>
          </a:p>
          <a:p>
            <a:endParaRPr lang="en-US"/>
          </a:p>
          <a:p>
            <a:r>
              <a:rPr lang="en-US"/>
              <a:t>- so after each mac operation, the inputs will move across the systolic array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video demonstration illustrates that the systolic array supports input sizes ranging from 1×1 to 3×3.</a:t>
            </a:r>
          </a:p>
          <a:p>
            <a:endParaRPr lang="en-US"/>
          </a:p>
          <a:p>
            <a:r>
              <a:rPr lang="en-US"/>
              <a:t>It clearly shows the multiply-accumulate (MAC) operation being performed, followed by the data being passed to the next processing element.</a:t>
            </a:r>
          </a:p>
          <a:p>
            <a:endParaRPr lang="en-US"/>
          </a:p>
          <a:p>
            <a:r>
              <a:rPr lang="en-US"/>
              <a:t>The input data is staggered, consistent with the expected systolic flow.</a:t>
            </a:r>
          </a:p>
          <a:p>
            <a:endParaRPr lang="en-US"/>
          </a:p>
          <a:p>
            <a:r>
              <a:rPr lang="en-US"/>
              <a:t>Each MAC operation is completed in exactly one clock cycle.</a:t>
            </a:r>
          </a:p>
          <a:p>
            <a:endParaRPr lang="en-US"/>
          </a:p>
          <a:p>
            <a:r>
              <a:rPr lang="en-US"/>
              <a:t>To verify the correctness of the simulation, a reference test case was calculated in MATLAB.</a:t>
            </a:r>
          </a:p>
          <a:p>
            <a:endParaRPr lang="en-US"/>
          </a:p>
          <a:p>
            <a:r>
              <a:rPr lang="en-US"/>
              <a:t>The simulation results closely match the MATLAB output, confirming the accuracy of the implementation.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next major milestone involes a softcore processor such as NIOS II into the design, coordinating the inputs and outputs movement throughout the design, handling reconfigurability commands and managaging the sequence and scheduling during runtime. The processor will interface with the hardware-accelerated systolic array through a memory-mapped interface, allowing high-level software programs to be written, potentially in C using custom hardware abstraction layer APIs. </a:t>
            </a:r>
          </a:p>
          <a:p>
            <a:endParaRPr lang="en-US"/>
          </a:p>
          <a:p>
            <a:r>
              <a:rPr lang="en-US"/>
              <a:t>For example it can be used for loading matrices into the shared memory, like loading weights from external memory to the on-chip memory. The buffers would preload the weights and feed them column by column. NIOS is simply programming the DMA to do all this without the need for CPU intervention and the currently implemented shift registers in the datapath pipeline will take care of the rest.</a:t>
            </a:r>
          </a:p>
          <a:p>
            <a:endParaRPr lang="en-US"/>
          </a:p>
          <a:p>
            <a:r>
              <a:rPr lang="en-US"/>
              <a:t>And lastly, to handle our main gap and to meet the aim of the reconfigurable NPU, the system will be designed to accommodate a sparsity exploitation method. During our pre-processing stage, pruning can be applied to eliminate the insignificant weights and activations, reducing the number of actual computations required. A Compressed formatting technique can also be utilised to represent the nonzero elements. This is where the main controller can schedule only the valid computation pairs into the systolic array, avoiding the zero values.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In conclusion, we have delved into literature to find methods on closing the sparsity and frequency memory access issues. </a:t>
            </a:r>
          </a:p>
          <a:p>
            <a:endParaRPr lang="en-US"/>
          </a:p>
          <a:p>
            <a:r>
              <a:rPr lang="en-US"/>
              <a:t>- so far we have simulated a basic systolic array that does correct MAC operations within 1 clock cycle </a:t>
            </a:r>
          </a:p>
          <a:p>
            <a:endParaRPr lang="en-US"/>
          </a:p>
          <a:p>
            <a:endParaRPr lang="en-US"/>
          </a:p>
          <a:p>
            <a:endParaRPr lang="en-US"/>
          </a:p>
          <a:p>
            <a:r>
              <a:rPr lang="en-US"/>
              <a:t>- And from now, we want to</a:t>
            </a:r>
          </a:p>
          <a:p>
            <a:r>
              <a:rPr lang="en-US"/>
              <a:t>1. use NIOS II for control and memory management</a:t>
            </a:r>
          </a:p>
          <a:p>
            <a:r>
              <a:rPr lang="en-US"/>
              <a:t>2. real memory integration</a:t>
            </a:r>
          </a:p>
          <a:p>
            <a:r>
              <a:rPr lang="en-US"/>
              <a:t>3. mitigate the sparsity in the matrices</a:t>
            </a:r>
          </a:p>
          <a:p>
            <a:endParaRPr lang="en-US"/>
          </a:p>
          <a:p>
            <a:r>
              <a:rPr lang="en-US"/>
              <a:t>to hopefully create a reconfigurable NPU for energy-efficient AI at edge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11.svg"/><Relationship Id="rId4" Type="http://schemas.openxmlformats.org/officeDocument/2006/relationships/image" Target="../media/image2.sv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slideLayout" Target="../slideLayouts/slideLayout7.xml"/><Relationship Id="rId7" Type="http://schemas.openxmlformats.org/officeDocument/2006/relationships/image" Target="../media/image3.png"/><Relationship Id="rId12" Type="http://schemas.openxmlformats.org/officeDocument/2006/relationships/image" Target="../media/image22.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svg"/><Relationship Id="rId11" Type="http://schemas.openxmlformats.org/officeDocument/2006/relationships/image" Target="../media/image21.png"/><Relationship Id="rId5" Type="http://schemas.openxmlformats.org/officeDocument/2006/relationships/image" Target="../media/image1.png"/><Relationship Id="rId10" Type="http://schemas.openxmlformats.org/officeDocument/2006/relationships/image" Target="../media/image20.png"/><Relationship Id="rId4" Type="http://schemas.openxmlformats.org/officeDocument/2006/relationships/notesSlide" Target="../notesSlides/notesSlide7.xml"/><Relationship Id="rId9" Type="http://schemas.openxmlformats.org/officeDocument/2006/relationships/image" Target="../media/image19.jpeg"/></Relationships>
</file>

<file path=ppt/slides/_rels/slide8.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26.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25.png"/><Relationship Id="rId5" Type="http://schemas.openxmlformats.org/officeDocument/2006/relationships/image" Target="../media/image3.png"/><Relationship Id="rId10" Type="http://schemas.openxmlformats.org/officeDocument/2006/relationships/image" Target="../media/image24.svg"/><Relationship Id="rId4" Type="http://schemas.openxmlformats.org/officeDocument/2006/relationships/image" Target="../media/image2.sv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28.svg"/><Relationship Id="rId3" Type="http://schemas.openxmlformats.org/officeDocument/2006/relationships/image" Target="../media/image2.svg"/><Relationship Id="rId7" Type="http://schemas.openxmlformats.org/officeDocument/2006/relationships/image" Target="../media/image24.svg"/><Relationship Id="rId12"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11.svg"/><Relationship Id="rId5" Type="http://schemas.openxmlformats.org/officeDocument/2006/relationships/image" Target="../media/image4.svg"/><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6.svg"/><Relationship Id="rId1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485035" y="-4485535"/>
            <a:ext cx="19258069" cy="19258069"/>
          </a:xfrm>
          <a:custGeom>
            <a:avLst/>
            <a:gdLst/>
            <a:ahLst/>
            <a:cxnLst/>
            <a:rect l="l" t="t" r="r" b="b"/>
            <a:pathLst>
              <a:path w="19258069" h="19258069">
                <a:moveTo>
                  <a:pt x="0" y="0"/>
                </a:moveTo>
                <a:lnTo>
                  <a:pt x="19258070" y="0"/>
                </a:lnTo>
                <a:lnTo>
                  <a:pt x="19258070" y="19258070"/>
                </a:lnTo>
                <a:lnTo>
                  <a:pt x="0" y="19258070"/>
                </a:lnTo>
                <a:lnTo>
                  <a:pt x="0" y="0"/>
                </a:lnTo>
                <a:close/>
              </a:path>
            </a:pathLst>
          </a:custGeom>
          <a:blipFill>
            <a:blip r:embed="rId3">
              <a:alphaModFix amt="4000"/>
              <a:extLst>
                <a:ext uri="{96DAC541-7B7A-43D3-8B79-37D633B846F1}">
                  <asvg:svgBlip xmlns:asvg="http://schemas.microsoft.com/office/drawing/2016/SVG/main" r:embed="rId4"/>
                </a:ext>
              </a:extLst>
            </a:blip>
            <a:stretch>
              <a:fillRect/>
            </a:stretch>
          </a:blipFill>
        </p:spPr>
        <p:txBody>
          <a:bodyPr/>
          <a:lstStyle/>
          <a:p>
            <a:endParaRPr lang="en-NZ"/>
          </a:p>
        </p:txBody>
      </p:sp>
      <p:grpSp>
        <p:nvGrpSpPr>
          <p:cNvPr id="3" name="Group 3"/>
          <p:cNvGrpSpPr/>
          <p:nvPr/>
        </p:nvGrpSpPr>
        <p:grpSpPr>
          <a:xfrm>
            <a:off x="1028700" y="1028700"/>
            <a:ext cx="852555" cy="852555"/>
            <a:chOff x="0" y="0"/>
            <a:chExt cx="1136740" cy="1136740"/>
          </a:xfrm>
        </p:grpSpPr>
        <p:sp>
          <p:nvSpPr>
            <p:cNvPr id="4" name="Freeform 4"/>
            <p:cNvSpPr/>
            <p:nvPr/>
          </p:nvSpPr>
          <p:spPr>
            <a:xfrm>
              <a:off x="0" y="0"/>
              <a:ext cx="1136740" cy="1136740"/>
            </a:xfrm>
            <a:custGeom>
              <a:avLst/>
              <a:gdLst/>
              <a:ahLst/>
              <a:cxnLst/>
              <a:rect l="l" t="t" r="r" b="b"/>
              <a:pathLst>
                <a:path w="1136740" h="1136740">
                  <a:moveTo>
                    <a:pt x="0" y="0"/>
                  </a:moveTo>
                  <a:lnTo>
                    <a:pt x="1136740" y="0"/>
                  </a:lnTo>
                  <a:lnTo>
                    <a:pt x="1136740" y="1136740"/>
                  </a:lnTo>
                  <a:lnTo>
                    <a:pt x="0" y="11367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5" name="TextBox 5"/>
            <p:cNvSpPr txBox="1"/>
            <p:nvPr/>
          </p:nvSpPr>
          <p:spPr>
            <a:xfrm>
              <a:off x="332697" y="488378"/>
              <a:ext cx="488373" cy="203562"/>
            </a:xfrm>
            <a:prstGeom prst="rect">
              <a:avLst/>
            </a:prstGeom>
          </p:spPr>
          <p:txBody>
            <a:bodyPr lIns="0" tIns="0" rIns="0" bIns="0" rtlCol="0" anchor="t">
              <a:spAutoFit/>
            </a:bodyPr>
            <a:lstStyle/>
            <a:p>
              <a:pPr algn="ctr">
                <a:lnSpc>
                  <a:spcPts val="1077"/>
                </a:lnSpc>
              </a:pPr>
              <a:r>
                <a:rPr lang="en-US" sz="1066" spc="-65">
                  <a:solidFill>
                    <a:srgbClr val="343434"/>
                  </a:solidFill>
                  <a:latin typeface="Mokoto Glitch 2"/>
                  <a:ea typeface="Mokoto Glitch 2"/>
                  <a:cs typeface="Mokoto Glitch 2"/>
                  <a:sym typeface="Mokoto Glitch 2"/>
                </a:rPr>
                <a:t>#43</a:t>
              </a:r>
            </a:p>
          </p:txBody>
        </p:sp>
      </p:grpSp>
      <p:sp>
        <p:nvSpPr>
          <p:cNvPr id="7" name="TextBox 7"/>
          <p:cNvSpPr txBox="1"/>
          <p:nvPr/>
        </p:nvSpPr>
        <p:spPr>
          <a:xfrm>
            <a:off x="1028700" y="3013229"/>
            <a:ext cx="9904619" cy="2392562"/>
          </a:xfrm>
          <a:prstGeom prst="rect">
            <a:avLst/>
          </a:prstGeom>
        </p:spPr>
        <p:txBody>
          <a:bodyPr lIns="0" tIns="0" rIns="0" bIns="0" rtlCol="0" anchor="t">
            <a:spAutoFit/>
          </a:bodyPr>
          <a:lstStyle/>
          <a:p>
            <a:pPr algn="l">
              <a:lnSpc>
                <a:spcPts val="16818"/>
              </a:lnSpc>
            </a:pPr>
            <a:r>
              <a:rPr lang="en-US" sz="12013" b="1">
                <a:solidFill>
                  <a:srgbClr val="343434"/>
                </a:solidFill>
                <a:latin typeface="Cooper Hewitt Bold"/>
                <a:ea typeface="Cooper Hewitt Bold"/>
                <a:cs typeface="Cooper Hewitt Bold"/>
                <a:sym typeface="Cooper Hewitt Bold"/>
              </a:rPr>
              <a:t>PROJECT #43</a:t>
            </a:r>
          </a:p>
        </p:txBody>
      </p:sp>
      <p:sp>
        <p:nvSpPr>
          <p:cNvPr id="8" name="TextBox 8"/>
          <p:cNvSpPr txBox="1"/>
          <p:nvPr/>
        </p:nvSpPr>
        <p:spPr>
          <a:xfrm>
            <a:off x="1028700" y="4921614"/>
            <a:ext cx="8626948" cy="1985010"/>
          </a:xfrm>
          <a:prstGeom prst="rect">
            <a:avLst/>
          </a:prstGeom>
        </p:spPr>
        <p:txBody>
          <a:bodyPr lIns="0" tIns="0" rIns="0" bIns="0" rtlCol="0" anchor="t">
            <a:spAutoFit/>
          </a:bodyPr>
          <a:lstStyle/>
          <a:p>
            <a:pPr algn="l">
              <a:lnSpc>
                <a:spcPts val="5040"/>
              </a:lnSpc>
            </a:pPr>
            <a:r>
              <a:rPr lang="en-US" sz="3600">
                <a:solidFill>
                  <a:srgbClr val="343434"/>
                </a:solidFill>
                <a:latin typeface="Cooper Hewitt"/>
                <a:ea typeface="Cooper Hewitt"/>
                <a:cs typeface="Cooper Hewitt"/>
                <a:sym typeface="Cooper Hewitt"/>
              </a:rPr>
              <a:t>RECONFIGURABLE NEURAL PROCESSING UNIT (NPU) FOR ENERGY-EFFICIENT AI AT THE EDGE</a:t>
            </a:r>
          </a:p>
        </p:txBody>
      </p:sp>
      <p:sp>
        <p:nvSpPr>
          <p:cNvPr id="9" name="TextBox 9"/>
          <p:cNvSpPr txBox="1"/>
          <p:nvPr/>
        </p:nvSpPr>
        <p:spPr>
          <a:xfrm>
            <a:off x="1055075" y="6830424"/>
            <a:ext cx="7793067" cy="328295"/>
          </a:xfrm>
          <a:prstGeom prst="rect">
            <a:avLst/>
          </a:prstGeom>
        </p:spPr>
        <p:txBody>
          <a:bodyPr lIns="0" tIns="0" rIns="0" bIns="0" rtlCol="0" anchor="t">
            <a:spAutoFit/>
          </a:bodyPr>
          <a:lstStyle/>
          <a:p>
            <a:pPr algn="just">
              <a:lnSpc>
                <a:spcPts val="2380"/>
              </a:lnSpc>
            </a:pPr>
            <a:r>
              <a:rPr lang="en-US" sz="1700">
                <a:solidFill>
                  <a:srgbClr val="343434"/>
                </a:solidFill>
                <a:latin typeface="Cooper Hewitt"/>
                <a:ea typeface="Cooper Hewitt"/>
                <a:cs typeface="Cooper Hewitt"/>
                <a:sym typeface="Cooper Hewitt"/>
              </a:rPr>
              <a:t>Pratham Chhabra | Kristelle Sampang</a:t>
            </a:r>
          </a:p>
        </p:txBody>
      </p:sp>
      <p:sp>
        <p:nvSpPr>
          <p:cNvPr id="10" name="TextBox 10"/>
          <p:cNvSpPr txBox="1"/>
          <p:nvPr/>
        </p:nvSpPr>
        <p:spPr>
          <a:xfrm>
            <a:off x="16253563" y="8953500"/>
            <a:ext cx="1005737" cy="304800"/>
          </a:xfrm>
          <a:prstGeom prst="rect">
            <a:avLst/>
          </a:prstGeom>
        </p:spPr>
        <p:txBody>
          <a:bodyPr lIns="0" tIns="0" rIns="0" bIns="0" rtlCol="0" anchor="t">
            <a:spAutoFit/>
          </a:bodyPr>
          <a:lstStyle/>
          <a:p>
            <a:pPr algn="r">
              <a:lnSpc>
                <a:spcPts val="2100"/>
              </a:lnSpc>
            </a:pPr>
            <a:r>
              <a:rPr lang="en-US" sz="1500" b="1">
                <a:solidFill>
                  <a:srgbClr val="343434"/>
                </a:solidFill>
                <a:latin typeface="Cooper Hewitt Bold"/>
                <a:ea typeface="Cooper Hewitt Bold"/>
                <a:cs typeface="Cooper Hewitt Bold"/>
                <a:sym typeface="Cooper Hewitt Bold"/>
              </a:rPr>
              <a:t>Page 01</a:t>
            </a:r>
          </a:p>
        </p:txBody>
      </p:sp>
      <p:grpSp>
        <p:nvGrpSpPr>
          <p:cNvPr id="14" name="Group 9">
            <a:extLst>
              <a:ext uri="{FF2B5EF4-FFF2-40B4-BE49-F238E27FC236}">
                <a16:creationId xmlns:a16="http://schemas.microsoft.com/office/drawing/2014/main" id="{3FB61BF8-4098-29DE-DC39-656AFC19465A}"/>
              </a:ext>
            </a:extLst>
          </p:cNvPr>
          <p:cNvGrpSpPr/>
          <p:nvPr/>
        </p:nvGrpSpPr>
        <p:grpSpPr>
          <a:xfrm>
            <a:off x="12447053" y="3162299"/>
            <a:ext cx="3792789" cy="3792789"/>
            <a:chOff x="0" y="0"/>
            <a:chExt cx="3436397" cy="3436397"/>
          </a:xfrm>
        </p:grpSpPr>
        <p:sp>
          <p:nvSpPr>
            <p:cNvPr id="15" name="Freeform 10">
              <a:extLst>
                <a:ext uri="{FF2B5EF4-FFF2-40B4-BE49-F238E27FC236}">
                  <a16:creationId xmlns:a16="http://schemas.microsoft.com/office/drawing/2014/main" id="{E739EECB-22A9-7037-4EEA-3E5326512CF5}"/>
                </a:ext>
              </a:extLst>
            </p:cNvPr>
            <p:cNvSpPr/>
            <p:nvPr/>
          </p:nvSpPr>
          <p:spPr>
            <a:xfrm>
              <a:off x="0" y="0"/>
              <a:ext cx="3436397" cy="3436397"/>
            </a:xfrm>
            <a:custGeom>
              <a:avLst/>
              <a:gdLst/>
              <a:ahLst/>
              <a:cxnLst/>
              <a:rect l="l" t="t" r="r" b="b"/>
              <a:pathLst>
                <a:path w="3436397" h="3436397">
                  <a:moveTo>
                    <a:pt x="0" y="0"/>
                  </a:moveTo>
                  <a:lnTo>
                    <a:pt x="3436397" y="0"/>
                  </a:lnTo>
                  <a:lnTo>
                    <a:pt x="3436397" y="3436397"/>
                  </a:lnTo>
                  <a:lnTo>
                    <a:pt x="0" y="3436397"/>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NZ"/>
            </a:p>
          </p:txBody>
        </p:sp>
        <p:grpSp>
          <p:nvGrpSpPr>
            <p:cNvPr id="16" name="Group 11">
              <a:extLst>
                <a:ext uri="{FF2B5EF4-FFF2-40B4-BE49-F238E27FC236}">
                  <a16:creationId xmlns:a16="http://schemas.microsoft.com/office/drawing/2014/main" id="{829FC2DB-BA6C-387A-3C9F-A6E7989D6484}"/>
                </a:ext>
              </a:extLst>
            </p:cNvPr>
            <p:cNvGrpSpPr/>
            <p:nvPr/>
          </p:nvGrpSpPr>
          <p:grpSpPr>
            <a:xfrm>
              <a:off x="1011841" y="1257099"/>
              <a:ext cx="552450" cy="666750"/>
              <a:chOff x="0" y="0"/>
              <a:chExt cx="552450" cy="666750"/>
            </a:xfrm>
          </p:grpSpPr>
          <p:sp>
            <p:nvSpPr>
              <p:cNvPr id="18" name="Freeform 12">
                <a:extLst>
                  <a:ext uri="{FF2B5EF4-FFF2-40B4-BE49-F238E27FC236}">
                    <a16:creationId xmlns:a16="http://schemas.microsoft.com/office/drawing/2014/main" id="{B3C6A5D5-3160-672A-4A7E-6762ABFE7061}"/>
                  </a:ext>
                </a:extLst>
              </p:cNvPr>
              <p:cNvSpPr/>
              <p:nvPr/>
            </p:nvSpPr>
            <p:spPr>
              <a:xfrm>
                <a:off x="48260" y="48260"/>
                <a:ext cx="455930" cy="572770"/>
              </a:xfrm>
              <a:custGeom>
                <a:avLst/>
                <a:gdLst/>
                <a:ahLst/>
                <a:cxnLst/>
                <a:rect l="l" t="t" r="r" b="b"/>
                <a:pathLst>
                  <a:path w="455930" h="572770">
                    <a:moveTo>
                      <a:pt x="127000" y="474980"/>
                    </a:moveTo>
                    <a:cubicBezTo>
                      <a:pt x="97790" y="161290"/>
                      <a:pt x="102870" y="120650"/>
                      <a:pt x="114300" y="96520"/>
                    </a:cubicBezTo>
                    <a:cubicBezTo>
                      <a:pt x="120650" y="81280"/>
                      <a:pt x="128270" y="72390"/>
                      <a:pt x="138430" y="63500"/>
                    </a:cubicBezTo>
                    <a:cubicBezTo>
                      <a:pt x="149860" y="55880"/>
                      <a:pt x="162560" y="49530"/>
                      <a:pt x="176530" y="46990"/>
                    </a:cubicBezTo>
                    <a:cubicBezTo>
                      <a:pt x="189230" y="44450"/>
                      <a:pt x="203200" y="44450"/>
                      <a:pt x="215900" y="49530"/>
                    </a:cubicBezTo>
                    <a:cubicBezTo>
                      <a:pt x="232410" y="54610"/>
                      <a:pt x="254000" y="72390"/>
                      <a:pt x="264160" y="86360"/>
                    </a:cubicBezTo>
                    <a:cubicBezTo>
                      <a:pt x="271780" y="97790"/>
                      <a:pt x="275590" y="111760"/>
                      <a:pt x="276860" y="124460"/>
                    </a:cubicBezTo>
                    <a:cubicBezTo>
                      <a:pt x="276860" y="137160"/>
                      <a:pt x="273050" y="165100"/>
                      <a:pt x="269240" y="165100"/>
                    </a:cubicBezTo>
                    <a:cubicBezTo>
                      <a:pt x="264160" y="165100"/>
                      <a:pt x="242570" y="68580"/>
                      <a:pt x="246380" y="68580"/>
                    </a:cubicBezTo>
                    <a:cubicBezTo>
                      <a:pt x="248920" y="67310"/>
                      <a:pt x="279400" y="120650"/>
                      <a:pt x="283210" y="148590"/>
                    </a:cubicBezTo>
                    <a:cubicBezTo>
                      <a:pt x="288290" y="175260"/>
                      <a:pt x="281940" y="204470"/>
                      <a:pt x="274320" y="231140"/>
                    </a:cubicBezTo>
                    <a:cubicBezTo>
                      <a:pt x="266700" y="257810"/>
                      <a:pt x="255270" y="280670"/>
                      <a:pt x="237490" y="307340"/>
                    </a:cubicBezTo>
                    <a:cubicBezTo>
                      <a:pt x="212090" y="342900"/>
                      <a:pt x="163830" y="402590"/>
                      <a:pt x="129540" y="420370"/>
                    </a:cubicBezTo>
                    <a:cubicBezTo>
                      <a:pt x="107950" y="430530"/>
                      <a:pt x="86360" y="431800"/>
                      <a:pt x="67310" y="426720"/>
                    </a:cubicBezTo>
                    <a:cubicBezTo>
                      <a:pt x="48260" y="421640"/>
                      <a:pt x="27940" y="405130"/>
                      <a:pt x="16510" y="391160"/>
                    </a:cubicBezTo>
                    <a:cubicBezTo>
                      <a:pt x="7620" y="378460"/>
                      <a:pt x="2540" y="365760"/>
                      <a:pt x="2540" y="351790"/>
                    </a:cubicBezTo>
                    <a:cubicBezTo>
                      <a:pt x="1270" y="332740"/>
                      <a:pt x="13970" y="314960"/>
                      <a:pt x="17780" y="290830"/>
                    </a:cubicBezTo>
                    <a:cubicBezTo>
                      <a:pt x="22860" y="254000"/>
                      <a:pt x="6350" y="184150"/>
                      <a:pt x="17780" y="151130"/>
                    </a:cubicBezTo>
                    <a:cubicBezTo>
                      <a:pt x="26670" y="128270"/>
                      <a:pt x="43180" y="111760"/>
                      <a:pt x="58420" y="101600"/>
                    </a:cubicBezTo>
                    <a:cubicBezTo>
                      <a:pt x="69850" y="92710"/>
                      <a:pt x="85090" y="90170"/>
                      <a:pt x="99060" y="88900"/>
                    </a:cubicBezTo>
                    <a:cubicBezTo>
                      <a:pt x="113030" y="88900"/>
                      <a:pt x="128270" y="91440"/>
                      <a:pt x="140970" y="97790"/>
                    </a:cubicBezTo>
                    <a:cubicBezTo>
                      <a:pt x="153670" y="104140"/>
                      <a:pt x="166370" y="113030"/>
                      <a:pt x="173990" y="124460"/>
                    </a:cubicBezTo>
                    <a:cubicBezTo>
                      <a:pt x="182880" y="135890"/>
                      <a:pt x="189230" y="149860"/>
                      <a:pt x="190500" y="163830"/>
                    </a:cubicBezTo>
                    <a:cubicBezTo>
                      <a:pt x="193040" y="177800"/>
                      <a:pt x="190500" y="205740"/>
                      <a:pt x="187960" y="207010"/>
                    </a:cubicBezTo>
                    <a:cubicBezTo>
                      <a:pt x="182880" y="207010"/>
                      <a:pt x="157480" y="124460"/>
                      <a:pt x="160020" y="123190"/>
                    </a:cubicBezTo>
                    <a:cubicBezTo>
                      <a:pt x="163830" y="121920"/>
                      <a:pt x="190500" y="166370"/>
                      <a:pt x="204470" y="195580"/>
                    </a:cubicBezTo>
                    <a:cubicBezTo>
                      <a:pt x="224790" y="240030"/>
                      <a:pt x="237490" y="326390"/>
                      <a:pt x="262890" y="363220"/>
                    </a:cubicBezTo>
                    <a:cubicBezTo>
                      <a:pt x="279400" y="387350"/>
                      <a:pt x="325120" y="403860"/>
                      <a:pt x="322580" y="411480"/>
                    </a:cubicBezTo>
                    <a:cubicBezTo>
                      <a:pt x="318770" y="420370"/>
                      <a:pt x="242570" y="424180"/>
                      <a:pt x="234950" y="410210"/>
                    </a:cubicBezTo>
                    <a:cubicBezTo>
                      <a:pt x="226060" y="397510"/>
                      <a:pt x="247650" y="354330"/>
                      <a:pt x="267970" y="335280"/>
                    </a:cubicBezTo>
                    <a:cubicBezTo>
                      <a:pt x="292100" y="312420"/>
                      <a:pt x="346710" y="288290"/>
                      <a:pt x="377190" y="292100"/>
                    </a:cubicBezTo>
                    <a:cubicBezTo>
                      <a:pt x="401320" y="295910"/>
                      <a:pt x="427990" y="318770"/>
                      <a:pt x="440690" y="337820"/>
                    </a:cubicBezTo>
                    <a:cubicBezTo>
                      <a:pt x="452120" y="355600"/>
                      <a:pt x="454660" y="383540"/>
                      <a:pt x="452120" y="401320"/>
                    </a:cubicBezTo>
                    <a:cubicBezTo>
                      <a:pt x="450850" y="416560"/>
                      <a:pt x="444500" y="430530"/>
                      <a:pt x="434340" y="441960"/>
                    </a:cubicBezTo>
                    <a:cubicBezTo>
                      <a:pt x="422910" y="455930"/>
                      <a:pt x="398780" y="472440"/>
                      <a:pt x="379730" y="476250"/>
                    </a:cubicBezTo>
                    <a:cubicBezTo>
                      <a:pt x="359410" y="480060"/>
                      <a:pt x="331470" y="473710"/>
                      <a:pt x="314960" y="464820"/>
                    </a:cubicBezTo>
                    <a:cubicBezTo>
                      <a:pt x="302260" y="458470"/>
                      <a:pt x="283210" y="445770"/>
                      <a:pt x="284480" y="434340"/>
                    </a:cubicBezTo>
                    <a:cubicBezTo>
                      <a:pt x="287020" y="410210"/>
                      <a:pt x="415290" y="327660"/>
                      <a:pt x="439420" y="337820"/>
                    </a:cubicBezTo>
                    <a:cubicBezTo>
                      <a:pt x="453390" y="344170"/>
                      <a:pt x="454660" y="382270"/>
                      <a:pt x="452120" y="402590"/>
                    </a:cubicBezTo>
                    <a:cubicBezTo>
                      <a:pt x="448310" y="421640"/>
                      <a:pt x="434340" y="445770"/>
                      <a:pt x="419100" y="458470"/>
                    </a:cubicBezTo>
                    <a:cubicBezTo>
                      <a:pt x="402590" y="471170"/>
                      <a:pt x="374650" y="477520"/>
                      <a:pt x="356870" y="477520"/>
                    </a:cubicBezTo>
                    <a:cubicBezTo>
                      <a:pt x="341630" y="478790"/>
                      <a:pt x="326390" y="472440"/>
                      <a:pt x="314960" y="464820"/>
                    </a:cubicBezTo>
                    <a:cubicBezTo>
                      <a:pt x="302260" y="458470"/>
                      <a:pt x="293370" y="450850"/>
                      <a:pt x="283210" y="434340"/>
                    </a:cubicBezTo>
                    <a:cubicBezTo>
                      <a:pt x="262890" y="403860"/>
                      <a:pt x="236220" y="321310"/>
                      <a:pt x="223520" y="278130"/>
                    </a:cubicBezTo>
                    <a:cubicBezTo>
                      <a:pt x="214630" y="246380"/>
                      <a:pt x="200660" y="215900"/>
                      <a:pt x="205740" y="196850"/>
                    </a:cubicBezTo>
                    <a:cubicBezTo>
                      <a:pt x="209550" y="184150"/>
                      <a:pt x="231140" y="177800"/>
                      <a:pt x="229870" y="170180"/>
                    </a:cubicBezTo>
                    <a:cubicBezTo>
                      <a:pt x="229870" y="162560"/>
                      <a:pt x="214630" y="157480"/>
                      <a:pt x="209550" y="148590"/>
                    </a:cubicBezTo>
                    <a:cubicBezTo>
                      <a:pt x="200660" y="134620"/>
                      <a:pt x="191770" y="110490"/>
                      <a:pt x="191770" y="91440"/>
                    </a:cubicBezTo>
                    <a:cubicBezTo>
                      <a:pt x="193040" y="73660"/>
                      <a:pt x="200660" y="50800"/>
                      <a:pt x="212090" y="36830"/>
                    </a:cubicBezTo>
                    <a:cubicBezTo>
                      <a:pt x="224790" y="21590"/>
                      <a:pt x="243840" y="8890"/>
                      <a:pt x="262890" y="5080"/>
                    </a:cubicBezTo>
                    <a:cubicBezTo>
                      <a:pt x="280670" y="0"/>
                      <a:pt x="303530" y="2540"/>
                      <a:pt x="321310" y="10160"/>
                    </a:cubicBezTo>
                    <a:cubicBezTo>
                      <a:pt x="337820" y="17780"/>
                      <a:pt x="355600" y="33020"/>
                      <a:pt x="364490" y="49530"/>
                    </a:cubicBezTo>
                    <a:cubicBezTo>
                      <a:pt x="374650" y="66040"/>
                      <a:pt x="377190" y="91440"/>
                      <a:pt x="375920" y="106680"/>
                    </a:cubicBezTo>
                    <a:cubicBezTo>
                      <a:pt x="375920" y="118110"/>
                      <a:pt x="372110" y="127000"/>
                      <a:pt x="367030" y="135890"/>
                    </a:cubicBezTo>
                    <a:cubicBezTo>
                      <a:pt x="363220" y="144780"/>
                      <a:pt x="358140" y="152400"/>
                      <a:pt x="349250" y="160020"/>
                    </a:cubicBezTo>
                    <a:cubicBezTo>
                      <a:pt x="337820" y="170180"/>
                      <a:pt x="314960" y="184150"/>
                      <a:pt x="297180" y="186690"/>
                    </a:cubicBezTo>
                    <a:cubicBezTo>
                      <a:pt x="278130" y="189230"/>
                      <a:pt x="255270" y="184150"/>
                      <a:pt x="238760" y="175260"/>
                    </a:cubicBezTo>
                    <a:cubicBezTo>
                      <a:pt x="222250" y="166370"/>
                      <a:pt x="207010" y="148590"/>
                      <a:pt x="199390" y="130810"/>
                    </a:cubicBezTo>
                    <a:cubicBezTo>
                      <a:pt x="191770" y="114300"/>
                      <a:pt x="190500" y="90170"/>
                      <a:pt x="194310" y="72390"/>
                    </a:cubicBezTo>
                    <a:cubicBezTo>
                      <a:pt x="199390" y="54610"/>
                      <a:pt x="212090" y="34290"/>
                      <a:pt x="227330" y="22860"/>
                    </a:cubicBezTo>
                    <a:cubicBezTo>
                      <a:pt x="241300" y="11430"/>
                      <a:pt x="262890" y="2540"/>
                      <a:pt x="281940" y="2540"/>
                    </a:cubicBezTo>
                    <a:cubicBezTo>
                      <a:pt x="300990" y="1270"/>
                      <a:pt x="321310" y="2540"/>
                      <a:pt x="339090" y="19050"/>
                    </a:cubicBezTo>
                    <a:cubicBezTo>
                      <a:pt x="383540" y="64770"/>
                      <a:pt x="452120" y="309880"/>
                      <a:pt x="453390" y="379730"/>
                    </a:cubicBezTo>
                    <a:cubicBezTo>
                      <a:pt x="453390" y="408940"/>
                      <a:pt x="447040" y="426720"/>
                      <a:pt x="434340" y="441960"/>
                    </a:cubicBezTo>
                    <a:cubicBezTo>
                      <a:pt x="421640" y="458470"/>
                      <a:pt x="398780" y="472440"/>
                      <a:pt x="378460" y="476250"/>
                    </a:cubicBezTo>
                    <a:cubicBezTo>
                      <a:pt x="358140" y="480060"/>
                      <a:pt x="331470" y="473710"/>
                      <a:pt x="314960" y="464820"/>
                    </a:cubicBezTo>
                    <a:cubicBezTo>
                      <a:pt x="300990" y="458470"/>
                      <a:pt x="281940" y="447040"/>
                      <a:pt x="283210" y="434340"/>
                    </a:cubicBezTo>
                    <a:cubicBezTo>
                      <a:pt x="285750" y="410210"/>
                      <a:pt x="416560" y="327660"/>
                      <a:pt x="440690" y="337820"/>
                    </a:cubicBezTo>
                    <a:cubicBezTo>
                      <a:pt x="454660" y="344170"/>
                      <a:pt x="455930" y="382270"/>
                      <a:pt x="452120" y="401320"/>
                    </a:cubicBezTo>
                    <a:cubicBezTo>
                      <a:pt x="449580" y="421640"/>
                      <a:pt x="433070" y="445770"/>
                      <a:pt x="419100" y="457200"/>
                    </a:cubicBezTo>
                    <a:cubicBezTo>
                      <a:pt x="407670" y="468630"/>
                      <a:pt x="394970" y="473710"/>
                      <a:pt x="379730" y="476250"/>
                    </a:cubicBezTo>
                    <a:cubicBezTo>
                      <a:pt x="360680" y="478790"/>
                      <a:pt x="331470" y="473710"/>
                      <a:pt x="314960" y="464820"/>
                    </a:cubicBezTo>
                    <a:cubicBezTo>
                      <a:pt x="302260" y="458470"/>
                      <a:pt x="281940" y="436880"/>
                      <a:pt x="284480" y="434340"/>
                    </a:cubicBezTo>
                    <a:cubicBezTo>
                      <a:pt x="285750" y="430530"/>
                      <a:pt x="325120" y="457200"/>
                      <a:pt x="346710" y="454660"/>
                    </a:cubicBezTo>
                    <a:cubicBezTo>
                      <a:pt x="369570" y="453390"/>
                      <a:pt x="408940" y="414020"/>
                      <a:pt x="416560" y="420370"/>
                    </a:cubicBezTo>
                    <a:cubicBezTo>
                      <a:pt x="422910" y="426720"/>
                      <a:pt x="400050" y="471170"/>
                      <a:pt x="386080" y="494030"/>
                    </a:cubicBezTo>
                    <a:cubicBezTo>
                      <a:pt x="373380" y="516890"/>
                      <a:pt x="359410" y="543560"/>
                      <a:pt x="336550" y="556260"/>
                    </a:cubicBezTo>
                    <a:cubicBezTo>
                      <a:pt x="311150" y="570230"/>
                      <a:pt x="267970" y="572770"/>
                      <a:pt x="238760" y="566420"/>
                    </a:cubicBezTo>
                    <a:cubicBezTo>
                      <a:pt x="212090" y="560070"/>
                      <a:pt x="191770" y="546100"/>
                      <a:pt x="167640" y="524510"/>
                    </a:cubicBezTo>
                    <a:cubicBezTo>
                      <a:pt x="135890" y="495300"/>
                      <a:pt x="92710" y="431800"/>
                      <a:pt x="73660" y="392430"/>
                    </a:cubicBezTo>
                    <a:cubicBezTo>
                      <a:pt x="60960" y="365760"/>
                      <a:pt x="55880" y="345440"/>
                      <a:pt x="52070" y="320040"/>
                    </a:cubicBezTo>
                    <a:cubicBezTo>
                      <a:pt x="48260" y="292100"/>
                      <a:pt x="58420" y="262890"/>
                      <a:pt x="53340" y="234950"/>
                    </a:cubicBezTo>
                    <a:cubicBezTo>
                      <a:pt x="48260" y="207010"/>
                      <a:pt x="16510" y="172720"/>
                      <a:pt x="17780" y="151130"/>
                    </a:cubicBezTo>
                    <a:cubicBezTo>
                      <a:pt x="19050" y="135890"/>
                      <a:pt x="29210" y="124460"/>
                      <a:pt x="40640" y="114300"/>
                    </a:cubicBezTo>
                    <a:cubicBezTo>
                      <a:pt x="54610" y="102870"/>
                      <a:pt x="78740" y="90170"/>
                      <a:pt x="99060" y="88900"/>
                    </a:cubicBezTo>
                    <a:cubicBezTo>
                      <a:pt x="118110" y="88900"/>
                      <a:pt x="143510" y="96520"/>
                      <a:pt x="158750" y="109220"/>
                    </a:cubicBezTo>
                    <a:cubicBezTo>
                      <a:pt x="173990" y="121920"/>
                      <a:pt x="185420" y="138430"/>
                      <a:pt x="190500" y="163830"/>
                    </a:cubicBezTo>
                    <a:cubicBezTo>
                      <a:pt x="200660" y="213360"/>
                      <a:pt x="181610" y="354330"/>
                      <a:pt x="161290" y="392430"/>
                    </a:cubicBezTo>
                    <a:cubicBezTo>
                      <a:pt x="152400" y="408940"/>
                      <a:pt x="142240" y="414020"/>
                      <a:pt x="129540" y="420370"/>
                    </a:cubicBezTo>
                    <a:cubicBezTo>
                      <a:pt x="116840" y="425450"/>
                      <a:pt x="102870" y="429260"/>
                      <a:pt x="88900" y="429260"/>
                    </a:cubicBezTo>
                    <a:cubicBezTo>
                      <a:pt x="74930" y="429260"/>
                      <a:pt x="59690" y="425450"/>
                      <a:pt x="48260" y="419100"/>
                    </a:cubicBezTo>
                    <a:cubicBezTo>
                      <a:pt x="35560" y="412750"/>
                      <a:pt x="24130" y="402590"/>
                      <a:pt x="16510" y="391160"/>
                    </a:cubicBezTo>
                    <a:cubicBezTo>
                      <a:pt x="8890" y="379730"/>
                      <a:pt x="3810" y="364490"/>
                      <a:pt x="2540" y="351790"/>
                    </a:cubicBezTo>
                    <a:cubicBezTo>
                      <a:pt x="0" y="337820"/>
                      <a:pt x="1270" y="323850"/>
                      <a:pt x="7620" y="309880"/>
                    </a:cubicBezTo>
                    <a:cubicBezTo>
                      <a:pt x="17780" y="288290"/>
                      <a:pt x="44450" y="261620"/>
                      <a:pt x="67310" y="242570"/>
                    </a:cubicBezTo>
                    <a:cubicBezTo>
                      <a:pt x="90170" y="223520"/>
                      <a:pt x="133350" y="218440"/>
                      <a:pt x="142240" y="195580"/>
                    </a:cubicBezTo>
                    <a:cubicBezTo>
                      <a:pt x="151130" y="170180"/>
                      <a:pt x="109220" y="119380"/>
                      <a:pt x="114300" y="96520"/>
                    </a:cubicBezTo>
                    <a:cubicBezTo>
                      <a:pt x="116840" y="81280"/>
                      <a:pt x="128270" y="72390"/>
                      <a:pt x="138430" y="63500"/>
                    </a:cubicBezTo>
                    <a:cubicBezTo>
                      <a:pt x="149860" y="55880"/>
                      <a:pt x="161290" y="48260"/>
                      <a:pt x="176530" y="46990"/>
                    </a:cubicBezTo>
                    <a:cubicBezTo>
                      <a:pt x="193040" y="44450"/>
                      <a:pt x="219710" y="48260"/>
                      <a:pt x="234950" y="57150"/>
                    </a:cubicBezTo>
                    <a:cubicBezTo>
                      <a:pt x="251460" y="67310"/>
                      <a:pt x="265430" y="82550"/>
                      <a:pt x="273050" y="104140"/>
                    </a:cubicBezTo>
                    <a:cubicBezTo>
                      <a:pt x="284480" y="143510"/>
                      <a:pt x="259080" y="220980"/>
                      <a:pt x="260350" y="281940"/>
                    </a:cubicBezTo>
                    <a:cubicBezTo>
                      <a:pt x="261620" y="346710"/>
                      <a:pt x="293370" y="436880"/>
                      <a:pt x="283210" y="482600"/>
                    </a:cubicBezTo>
                    <a:cubicBezTo>
                      <a:pt x="276860" y="510540"/>
                      <a:pt x="262890" y="533400"/>
                      <a:pt x="246380" y="544830"/>
                    </a:cubicBezTo>
                    <a:cubicBezTo>
                      <a:pt x="231140" y="554990"/>
                      <a:pt x="208280" y="558800"/>
                      <a:pt x="191770" y="554990"/>
                    </a:cubicBezTo>
                    <a:cubicBezTo>
                      <a:pt x="173990" y="552450"/>
                      <a:pt x="154940" y="541020"/>
                      <a:pt x="143510" y="527050"/>
                    </a:cubicBezTo>
                    <a:cubicBezTo>
                      <a:pt x="133350" y="513080"/>
                      <a:pt x="127000" y="474980"/>
                      <a:pt x="127000" y="474980"/>
                    </a:cubicBezTo>
                  </a:path>
                </a:pathLst>
              </a:custGeom>
              <a:solidFill>
                <a:srgbClr val="FABDBD"/>
              </a:solidFill>
              <a:ln cap="sq">
                <a:noFill/>
                <a:prstDash val="solid"/>
                <a:miter/>
              </a:ln>
            </p:spPr>
            <p:txBody>
              <a:bodyPr/>
              <a:lstStyle/>
              <a:p>
                <a:endParaRPr lang="en-NZ"/>
              </a:p>
            </p:txBody>
          </p:sp>
        </p:grpSp>
        <p:sp>
          <p:nvSpPr>
            <p:cNvPr id="17" name="TextBox 13">
              <a:extLst>
                <a:ext uri="{FF2B5EF4-FFF2-40B4-BE49-F238E27FC236}">
                  <a16:creationId xmlns:a16="http://schemas.microsoft.com/office/drawing/2014/main" id="{2F984458-7C4A-2F12-8531-76F71A6001A1}"/>
                </a:ext>
              </a:extLst>
            </p:cNvPr>
            <p:cNvSpPr txBox="1"/>
            <p:nvPr/>
          </p:nvSpPr>
          <p:spPr>
            <a:xfrm rot="20848516">
              <a:off x="1851321" y="1649944"/>
              <a:ext cx="371191" cy="663943"/>
            </a:xfrm>
            <a:prstGeom prst="rect">
              <a:avLst/>
            </a:prstGeom>
          </p:spPr>
          <p:txBody>
            <a:bodyPr lIns="0" tIns="0" rIns="0" bIns="0" rtlCol="0" anchor="t">
              <a:spAutoFit/>
            </a:bodyPr>
            <a:lstStyle/>
            <a:p>
              <a:pPr algn="l">
                <a:lnSpc>
                  <a:spcPts val="4085"/>
                </a:lnSpc>
              </a:pPr>
              <a:endParaRPr lang="en-US" sz="2918" b="1" dirty="0">
                <a:solidFill>
                  <a:srgbClr val="343434"/>
                </a:solidFill>
                <a:latin typeface="Cooper Hewitt Bold"/>
                <a:ea typeface="Cooper Hewitt Bold"/>
                <a:cs typeface="Cooper Hewitt Bold"/>
                <a:sym typeface="Cooper Hewitt Bold"/>
              </a:endParaRPr>
            </a:p>
          </p:txBody>
        </p:sp>
      </p:grpSp>
      <p:pic>
        <p:nvPicPr>
          <p:cNvPr id="19" name="Picture 18">
            <a:extLst>
              <a:ext uri="{FF2B5EF4-FFF2-40B4-BE49-F238E27FC236}">
                <a16:creationId xmlns:a16="http://schemas.microsoft.com/office/drawing/2014/main" id="{03343746-364B-9B29-39A5-CDC3C9B95EC7}"/>
              </a:ext>
            </a:extLst>
          </p:cNvPr>
          <p:cNvPicPr>
            <a:picLocks noChangeAspect="1"/>
          </p:cNvPicPr>
          <p:nvPr/>
        </p:nvPicPr>
        <p:blipFill>
          <a:blip r:embed="rId9"/>
          <a:stretch>
            <a:fillRect/>
          </a:stretch>
        </p:blipFill>
        <p:spPr>
          <a:xfrm>
            <a:off x="13606783" y="4651191"/>
            <a:ext cx="505267" cy="5001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485035" y="-4485535"/>
            <a:ext cx="19258069" cy="19258069"/>
          </a:xfrm>
          <a:custGeom>
            <a:avLst/>
            <a:gdLst/>
            <a:ahLst/>
            <a:cxnLst/>
            <a:rect l="l" t="t" r="r" b="b"/>
            <a:pathLst>
              <a:path w="19258069" h="19258069">
                <a:moveTo>
                  <a:pt x="0" y="0"/>
                </a:moveTo>
                <a:lnTo>
                  <a:pt x="19258070" y="0"/>
                </a:lnTo>
                <a:lnTo>
                  <a:pt x="19258070" y="19258070"/>
                </a:lnTo>
                <a:lnTo>
                  <a:pt x="0" y="19258070"/>
                </a:lnTo>
                <a:lnTo>
                  <a:pt x="0" y="0"/>
                </a:lnTo>
                <a:close/>
              </a:path>
            </a:pathLst>
          </a:custGeom>
          <a:blipFill>
            <a:blip r:embed="rId3">
              <a:alphaModFix amt="4000"/>
              <a:extLst>
                <a:ext uri="{96DAC541-7B7A-43D3-8B79-37D633B846F1}">
                  <asvg:svgBlip xmlns:asvg="http://schemas.microsoft.com/office/drawing/2016/SVG/main" r:embed="rId4"/>
                </a:ext>
              </a:extLst>
            </a:blip>
            <a:stretch>
              <a:fillRect/>
            </a:stretch>
          </a:blipFill>
        </p:spPr>
        <p:txBody>
          <a:bodyPr/>
          <a:lstStyle/>
          <a:p>
            <a:endParaRPr lang="en-NZ"/>
          </a:p>
        </p:txBody>
      </p:sp>
      <p:grpSp>
        <p:nvGrpSpPr>
          <p:cNvPr id="3" name="Group 3"/>
          <p:cNvGrpSpPr/>
          <p:nvPr/>
        </p:nvGrpSpPr>
        <p:grpSpPr>
          <a:xfrm>
            <a:off x="1028700" y="1028700"/>
            <a:ext cx="852555" cy="852555"/>
            <a:chOff x="0" y="0"/>
            <a:chExt cx="1136740" cy="1136740"/>
          </a:xfrm>
        </p:grpSpPr>
        <p:sp>
          <p:nvSpPr>
            <p:cNvPr id="4" name="Freeform 4"/>
            <p:cNvSpPr/>
            <p:nvPr/>
          </p:nvSpPr>
          <p:spPr>
            <a:xfrm>
              <a:off x="0" y="0"/>
              <a:ext cx="1136740" cy="1136740"/>
            </a:xfrm>
            <a:custGeom>
              <a:avLst/>
              <a:gdLst/>
              <a:ahLst/>
              <a:cxnLst/>
              <a:rect l="l" t="t" r="r" b="b"/>
              <a:pathLst>
                <a:path w="1136740" h="1136740">
                  <a:moveTo>
                    <a:pt x="0" y="0"/>
                  </a:moveTo>
                  <a:lnTo>
                    <a:pt x="1136740" y="0"/>
                  </a:lnTo>
                  <a:lnTo>
                    <a:pt x="1136740" y="1136740"/>
                  </a:lnTo>
                  <a:lnTo>
                    <a:pt x="0" y="11367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5" name="TextBox 5"/>
            <p:cNvSpPr txBox="1"/>
            <p:nvPr/>
          </p:nvSpPr>
          <p:spPr>
            <a:xfrm>
              <a:off x="332697" y="488378"/>
              <a:ext cx="488373" cy="203562"/>
            </a:xfrm>
            <a:prstGeom prst="rect">
              <a:avLst/>
            </a:prstGeom>
          </p:spPr>
          <p:txBody>
            <a:bodyPr lIns="0" tIns="0" rIns="0" bIns="0" rtlCol="0" anchor="t">
              <a:spAutoFit/>
            </a:bodyPr>
            <a:lstStyle/>
            <a:p>
              <a:pPr algn="ctr">
                <a:lnSpc>
                  <a:spcPts val="1077"/>
                </a:lnSpc>
              </a:pPr>
              <a:r>
                <a:rPr lang="en-US" sz="1066" spc="-65">
                  <a:solidFill>
                    <a:srgbClr val="343434"/>
                  </a:solidFill>
                  <a:latin typeface="Mokoto Glitch 2"/>
                  <a:ea typeface="Mokoto Glitch 2"/>
                  <a:cs typeface="Mokoto Glitch 2"/>
                  <a:sym typeface="Mokoto Glitch 2"/>
                </a:rPr>
                <a:t>#43</a:t>
              </a:r>
            </a:p>
          </p:txBody>
        </p:sp>
      </p:grpSp>
      <p:sp>
        <p:nvSpPr>
          <p:cNvPr id="6" name="Freeform 6"/>
          <p:cNvSpPr/>
          <p:nvPr/>
        </p:nvSpPr>
        <p:spPr>
          <a:xfrm>
            <a:off x="11601508" y="1912631"/>
            <a:ext cx="4652055" cy="6106516"/>
          </a:xfrm>
          <a:custGeom>
            <a:avLst/>
            <a:gdLst/>
            <a:ahLst/>
            <a:cxnLst/>
            <a:rect l="l" t="t" r="r" b="b"/>
            <a:pathLst>
              <a:path w="4652055" h="6106516">
                <a:moveTo>
                  <a:pt x="0" y="0"/>
                </a:moveTo>
                <a:lnTo>
                  <a:pt x="4652055" y="0"/>
                </a:lnTo>
                <a:lnTo>
                  <a:pt x="4652055" y="6106516"/>
                </a:lnTo>
                <a:lnTo>
                  <a:pt x="0" y="6106516"/>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NZ"/>
          </a:p>
        </p:txBody>
      </p:sp>
      <p:sp>
        <p:nvSpPr>
          <p:cNvPr id="7" name="Freeform 7"/>
          <p:cNvSpPr/>
          <p:nvPr/>
        </p:nvSpPr>
        <p:spPr>
          <a:xfrm>
            <a:off x="9722613" y="3588656"/>
            <a:ext cx="2597247" cy="4793577"/>
          </a:xfrm>
          <a:custGeom>
            <a:avLst/>
            <a:gdLst/>
            <a:ahLst/>
            <a:cxnLst/>
            <a:rect l="l" t="t" r="r" b="b"/>
            <a:pathLst>
              <a:path w="2597247" h="4793577">
                <a:moveTo>
                  <a:pt x="0" y="0"/>
                </a:moveTo>
                <a:lnTo>
                  <a:pt x="2597247" y="0"/>
                </a:lnTo>
                <a:lnTo>
                  <a:pt x="2597247" y="4793577"/>
                </a:lnTo>
                <a:lnTo>
                  <a:pt x="0" y="479357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NZ"/>
          </a:p>
        </p:txBody>
      </p:sp>
      <p:sp>
        <p:nvSpPr>
          <p:cNvPr id="8" name="TextBox 8"/>
          <p:cNvSpPr txBox="1"/>
          <p:nvPr/>
        </p:nvSpPr>
        <p:spPr>
          <a:xfrm>
            <a:off x="1028700" y="2338090"/>
            <a:ext cx="7072639" cy="1209674"/>
          </a:xfrm>
          <a:prstGeom prst="rect">
            <a:avLst/>
          </a:prstGeom>
        </p:spPr>
        <p:txBody>
          <a:bodyPr lIns="0" tIns="0" rIns="0" bIns="0" rtlCol="0" anchor="t">
            <a:spAutoFit/>
          </a:bodyPr>
          <a:lstStyle/>
          <a:p>
            <a:pPr algn="l">
              <a:lnSpc>
                <a:spcPts val="8400"/>
              </a:lnSpc>
            </a:pPr>
            <a:r>
              <a:rPr lang="en-US" sz="6000" b="1">
                <a:solidFill>
                  <a:srgbClr val="343434"/>
                </a:solidFill>
                <a:latin typeface="Cooper Hewitt Bold"/>
                <a:ea typeface="Cooper Hewitt Bold"/>
                <a:cs typeface="Cooper Hewitt Bold"/>
                <a:sym typeface="Cooper Hewitt Bold"/>
              </a:rPr>
              <a:t>BACKGROUND</a:t>
            </a:r>
          </a:p>
        </p:txBody>
      </p:sp>
      <p:sp>
        <p:nvSpPr>
          <p:cNvPr id="9" name="TextBox 9"/>
          <p:cNvSpPr txBox="1"/>
          <p:nvPr/>
        </p:nvSpPr>
        <p:spPr>
          <a:xfrm>
            <a:off x="1028700" y="4654076"/>
            <a:ext cx="7579573" cy="3921125"/>
          </a:xfrm>
          <a:prstGeom prst="rect">
            <a:avLst/>
          </a:prstGeom>
        </p:spPr>
        <p:txBody>
          <a:bodyPr lIns="0" tIns="0" rIns="0" bIns="0" rtlCol="0" anchor="t">
            <a:spAutoFit/>
          </a:bodyPr>
          <a:lstStyle/>
          <a:p>
            <a:pPr marL="431799" lvl="1" indent="-215899" algn="l">
              <a:lnSpc>
                <a:spcPts val="2799"/>
              </a:lnSpc>
              <a:buFont typeface="Arial"/>
              <a:buChar char="•"/>
            </a:pPr>
            <a:r>
              <a:rPr lang="en-US" sz="1999">
                <a:solidFill>
                  <a:srgbClr val="343434"/>
                </a:solidFill>
                <a:latin typeface="Cooper Hewitt"/>
                <a:ea typeface="Cooper Hewitt"/>
                <a:cs typeface="Cooper Hewitt"/>
                <a:sym typeface="Cooper Hewitt"/>
              </a:rPr>
              <a:t>Nowadays, Machine Learning (ML) is integrated everywhere, especially in embedded systems and edge devices.</a:t>
            </a:r>
          </a:p>
          <a:p>
            <a:pPr algn="l">
              <a:lnSpc>
                <a:spcPts val="2799"/>
              </a:lnSpc>
            </a:pPr>
            <a:endParaRPr lang="en-US" sz="1999">
              <a:solidFill>
                <a:srgbClr val="343434"/>
              </a:solidFill>
              <a:latin typeface="Cooper Hewitt"/>
              <a:ea typeface="Cooper Hewitt"/>
              <a:cs typeface="Cooper Hewitt"/>
              <a:sym typeface="Cooper Hewitt"/>
            </a:endParaRPr>
          </a:p>
          <a:p>
            <a:pPr marL="431799" lvl="1" indent="-215899" algn="l">
              <a:lnSpc>
                <a:spcPts val="2799"/>
              </a:lnSpc>
              <a:buFont typeface="Arial"/>
              <a:buChar char="•"/>
            </a:pPr>
            <a:r>
              <a:rPr lang="en-US" sz="1999">
                <a:solidFill>
                  <a:srgbClr val="343434"/>
                </a:solidFill>
                <a:latin typeface="Cooper Hewitt"/>
                <a:ea typeface="Cooper Hewitt"/>
                <a:cs typeface="Cooper Hewitt"/>
                <a:sym typeface="Cooper Hewitt"/>
              </a:rPr>
              <a:t>ML inferencing in typical everyday computers is not computationally efficient. </a:t>
            </a:r>
          </a:p>
          <a:p>
            <a:pPr algn="l">
              <a:lnSpc>
                <a:spcPts val="2799"/>
              </a:lnSpc>
            </a:pPr>
            <a:endParaRPr lang="en-US" sz="1999">
              <a:solidFill>
                <a:srgbClr val="343434"/>
              </a:solidFill>
              <a:latin typeface="Cooper Hewitt"/>
              <a:ea typeface="Cooper Hewitt"/>
              <a:cs typeface="Cooper Hewitt"/>
              <a:sym typeface="Cooper Hewitt"/>
            </a:endParaRPr>
          </a:p>
          <a:p>
            <a:pPr marL="431799" lvl="1" indent="-215899" algn="l">
              <a:lnSpc>
                <a:spcPts val="2799"/>
              </a:lnSpc>
              <a:buFont typeface="Arial"/>
              <a:buChar char="•"/>
            </a:pPr>
            <a:r>
              <a:rPr lang="en-US" sz="1999">
                <a:solidFill>
                  <a:srgbClr val="343434"/>
                </a:solidFill>
                <a:latin typeface="Cooper Hewitt"/>
                <a:ea typeface="Cooper Hewitt"/>
                <a:cs typeface="Cooper Hewitt"/>
                <a:sym typeface="Cooper Hewitt"/>
              </a:rPr>
              <a:t>Requires a hardware accelerator to reduce power consumption and increase energy efficiency. </a:t>
            </a:r>
          </a:p>
          <a:p>
            <a:pPr algn="l">
              <a:lnSpc>
                <a:spcPts val="2799"/>
              </a:lnSpc>
            </a:pPr>
            <a:endParaRPr lang="en-US" sz="1999">
              <a:solidFill>
                <a:srgbClr val="343434"/>
              </a:solidFill>
              <a:latin typeface="Cooper Hewitt"/>
              <a:ea typeface="Cooper Hewitt"/>
              <a:cs typeface="Cooper Hewitt"/>
              <a:sym typeface="Cooper Hewitt"/>
            </a:endParaRPr>
          </a:p>
          <a:p>
            <a:pPr algn="l">
              <a:lnSpc>
                <a:spcPts val="2799"/>
              </a:lnSpc>
            </a:pPr>
            <a:endParaRPr lang="en-US" sz="1999">
              <a:solidFill>
                <a:srgbClr val="343434"/>
              </a:solidFill>
              <a:latin typeface="Cooper Hewitt"/>
              <a:ea typeface="Cooper Hewitt"/>
              <a:cs typeface="Cooper Hewitt"/>
              <a:sym typeface="Cooper Hewitt"/>
            </a:endParaRPr>
          </a:p>
          <a:p>
            <a:pPr algn="l">
              <a:lnSpc>
                <a:spcPts val="2799"/>
              </a:lnSpc>
            </a:pPr>
            <a:endParaRPr lang="en-US" sz="1999">
              <a:solidFill>
                <a:srgbClr val="343434"/>
              </a:solidFill>
              <a:latin typeface="Cooper Hewitt"/>
              <a:ea typeface="Cooper Hewitt"/>
              <a:cs typeface="Cooper Hewitt"/>
              <a:sym typeface="Cooper Hewitt"/>
            </a:endParaRPr>
          </a:p>
        </p:txBody>
      </p:sp>
      <p:sp>
        <p:nvSpPr>
          <p:cNvPr id="10" name="TextBox 10"/>
          <p:cNvSpPr txBox="1"/>
          <p:nvPr/>
        </p:nvSpPr>
        <p:spPr>
          <a:xfrm>
            <a:off x="16253563" y="8953500"/>
            <a:ext cx="1005737" cy="304800"/>
          </a:xfrm>
          <a:prstGeom prst="rect">
            <a:avLst/>
          </a:prstGeom>
        </p:spPr>
        <p:txBody>
          <a:bodyPr lIns="0" tIns="0" rIns="0" bIns="0" rtlCol="0" anchor="t">
            <a:spAutoFit/>
          </a:bodyPr>
          <a:lstStyle/>
          <a:p>
            <a:pPr algn="r">
              <a:lnSpc>
                <a:spcPts val="2100"/>
              </a:lnSpc>
            </a:pPr>
            <a:r>
              <a:rPr lang="en-US" sz="1500" b="1">
                <a:solidFill>
                  <a:srgbClr val="343434"/>
                </a:solidFill>
                <a:latin typeface="Cooper Hewitt Bold"/>
                <a:ea typeface="Cooper Hewitt Bold"/>
                <a:cs typeface="Cooper Hewitt Bold"/>
                <a:sym typeface="Cooper Hewitt Bold"/>
              </a:rPr>
              <a:t>Page 02</a:t>
            </a:r>
          </a:p>
        </p:txBody>
      </p:sp>
      <p:sp>
        <p:nvSpPr>
          <p:cNvPr id="11" name="TextBox 11"/>
          <p:cNvSpPr txBox="1"/>
          <p:nvPr/>
        </p:nvSpPr>
        <p:spPr>
          <a:xfrm>
            <a:off x="1028700" y="3121576"/>
            <a:ext cx="7072639" cy="1209674"/>
          </a:xfrm>
          <a:prstGeom prst="rect">
            <a:avLst/>
          </a:prstGeom>
        </p:spPr>
        <p:txBody>
          <a:bodyPr lIns="0" tIns="0" rIns="0" bIns="0" rtlCol="0" anchor="t">
            <a:spAutoFit/>
          </a:bodyPr>
          <a:lstStyle/>
          <a:p>
            <a:pPr algn="l">
              <a:lnSpc>
                <a:spcPts val="8400"/>
              </a:lnSpc>
            </a:pPr>
            <a:r>
              <a:rPr lang="en-US" sz="6000">
                <a:solidFill>
                  <a:srgbClr val="343434"/>
                </a:solidFill>
                <a:latin typeface="Cooper Hewitt"/>
                <a:ea typeface="Cooper Hewitt"/>
                <a:cs typeface="Cooper Hewitt"/>
                <a:sym typeface="Cooper Hewitt"/>
              </a:rPr>
              <a:t>MOTIVATION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485035" y="-4485535"/>
            <a:ext cx="19258069" cy="19258069"/>
          </a:xfrm>
          <a:custGeom>
            <a:avLst/>
            <a:gdLst/>
            <a:ahLst/>
            <a:cxnLst/>
            <a:rect l="l" t="t" r="r" b="b"/>
            <a:pathLst>
              <a:path w="19258069" h="19258069">
                <a:moveTo>
                  <a:pt x="0" y="0"/>
                </a:moveTo>
                <a:lnTo>
                  <a:pt x="19258070" y="0"/>
                </a:lnTo>
                <a:lnTo>
                  <a:pt x="19258070" y="19258070"/>
                </a:lnTo>
                <a:lnTo>
                  <a:pt x="0" y="19258070"/>
                </a:lnTo>
                <a:lnTo>
                  <a:pt x="0" y="0"/>
                </a:lnTo>
                <a:close/>
              </a:path>
            </a:pathLst>
          </a:custGeom>
          <a:blipFill>
            <a:blip r:embed="rId3">
              <a:alphaModFix amt="4000"/>
              <a:extLst>
                <a:ext uri="{96DAC541-7B7A-43D3-8B79-37D633B846F1}">
                  <asvg:svgBlip xmlns:asvg="http://schemas.microsoft.com/office/drawing/2016/SVG/main" r:embed="rId4"/>
                </a:ext>
              </a:extLst>
            </a:blip>
            <a:stretch>
              <a:fillRect/>
            </a:stretch>
          </a:blipFill>
        </p:spPr>
        <p:txBody>
          <a:bodyPr/>
          <a:lstStyle/>
          <a:p>
            <a:endParaRPr lang="en-NZ"/>
          </a:p>
        </p:txBody>
      </p:sp>
      <p:grpSp>
        <p:nvGrpSpPr>
          <p:cNvPr id="3" name="Group 3"/>
          <p:cNvGrpSpPr/>
          <p:nvPr/>
        </p:nvGrpSpPr>
        <p:grpSpPr>
          <a:xfrm>
            <a:off x="1028700" y="1028700"/>
            <a:ext cx="852555" cy="852555"/>
            <a:chOff x="0" y="0"/>
            <a:chExt cx="1136740" cy="1136740"/>
          </a:xfrm>
        </p:grpSpPr>
        <p:sp>
          <p:nvSpPr>
            <p:cNvPr id="4" name="Freeform 4"/>
            <p:cNvSpPr/>
            <p:nvPr/>
          </p:nvSpPr>
          <p:spPr>
            <a:xfrm>
              <a:off x="0" y="0"/>
              <a:ext cx="1136740" cy="1136740"/>
            </a:xfrm>
            <a:custGeom>
              <a:avLst/>
              <a:gdLst/>
              <a:ahLst/>
              <a:cxnLst/>
              <a:rect l="l" t="t" r="r" b="b"/>
              <a:pathLst>
                <a:path w="1136740" h="1136740">
                  <a:moveTo>
                    <a:pt x="0" y="0"/>
                  </a:moveTo>
                  <a:lnTo>
                    <a:pt x="1136740" y="0"/>
                  </a:lnTo>
                  <a:lnTo>
                    <a:pt x="1136740" y="1136740"/>
                  </a:lnTo>
                  <a:lnTo>
                    <a:pt x="0" y="11367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5" name="TextBox 5"/>
            <p:cNvSpPr txBox="1"/>
            <p:nvPr/>
          </p:nvSpPr>
          <p:spPr>
            <a:xfrm>
              <a:off x="332697" y="488378"/>
              <a:ext cx="488373" cy="203562"/>
            </a:xfrm>
            <a:prstGeom prst="rect">
              <a:avLst/>
            </a:prstGeom>
          </p:spPr>
          <p:txBody>
            <a:bodyPr lIns="0" tIns="0" rIns="0" bIns="0" rtlCol="0" anchor="t">
              <a:spAutoFit/>
            </a:bodyPr>
            <a:lstStyle/>
            <a:p>
              <a:pPr algn="ctr">
                <a:lnSpc>
                  <a:spcPts val="1077"/>
                </a:lnSpc>
              </a:pPr>
              <a:r>
                <a:rPr lang="en-US" sz="1066" spc="-65">
                  <a:solidFill>
                    <a:srgbClr val="343434"/>
                  </a:solidFill>
                  <a:latin typeface="Mokoto Glitch 2"/>
                  <a:ea typeface="Mokoto Glitch 2"/>
                  <a:cs typeface="Mokoto Glitch 2"/>
                  <a:sym typeface="Mokoto Glitch 2"/>
                </a:rPr>
                <a:t>#43</a:t>
              </a:r>
            </a:p>
          </p:txBody>
        </p:sp>
      </p:grpSp>
      <p:sp>
        <p:nvSpPr>
          <p:cNvPr id="6" name="TextBox 6"/>
          <p:cNvSpPr txBox="1"/>
          <p:nvPr/>
        </p:nvSpPr>
        <p:spPr>
          <a:xfrm>
            <a:off x="1028700" y="2338090"/>
            <a:ext cx="7072639" cy="1209674"/>
          </a:xfrm>
          <a:prstGeom prst="rect">
            <a:avLst/>
          </a:prstGeom>
        </p:spPr>
        <p:txBody>
          <a:bodyPr lIns="0" tIns="0" rIns="0" bIns="0" rtlCol="0" anchor="t">
            <a:spAutoFit/>
          </a:bodyPr>
          <a:lstStyle/>
          <a:p>
            <a:pPr algn="l">
              <a:lnSpc>
                <a:spcPts val="8400"/>
              </a:lnSpc>
            </a:pPr>
            <a:r>
              <a:rPr lang="en-US" sz="6000" b="1">
                <a:solidFill>
                  <a:srgbClr val="343434"/>
                </a:solidFill>
                <a:latin typeface="Cooper Hewitt Bold"/>
                <a:ea typeface="Cooper Hewitt Bold"/>
                <a:cs typeface="Cooper Hewitt Bold"/>
                <a:sym typeface="Cooper Hewitt Bold"/>
              </a:rPr>
              <a:t>BACKGROUND</a:t>
            </a:r>
          </a:p>
        </p:txBody>
      </p:sp>
      <p:sp>
        <p:nvSpPr>
          <p:cNvPr id="7" name="TextBox 7"/>
          <p:cNvSpPr txBox="1"/>
          <p:nvPr/>
        </p:nvSpPr>
        <p:spPr>
          <a:xfrm>
            <a:off x="16253563" y="8953500"/>
            <a:ext cx="1005737" cy="304800"/>
          </a:xfrm>
          <a:prstGeom prst="rect">
            <a:avLst/>
          </a:prstGeom>
        </p:spPr>
        <p:txBody>
          <a:bodyPr lIns="0" tIns="0" rIns="0" bIns="0" rtlCol="0" anchor="t">
            <a:spAutoFit/>
          </a:bodyPr>
          <a:lstStyle/>
          <a:p>
            <a:pPr algn="r">
              <a:lnSpc>
                <a:spcPts val="2100"/>
              </a:lnSpc>
            </a:pPr>
            <a:r>
              <a:rPr lang="en-US" sz="1500" b="1">
                <a:solidFill>
                  <a:srgbClr val="343434"/>
                </a:solidFill>
                <a:latin typeface="Cooper Hewitt Bold"/>
                <a:ea typeface="Cooper Hewitt Bold"/>
                <a:cs typeface="Cooper Hewitt Bold"/>
                <a:sym typeface="Cooper Hewitt Bold"/>
              </a:rPr>
              <a:t>Page 03</a:t>
            </a:r>
          </a:p>
        </p:txBody>
      </p:sp>
      <p:sp>
        <p:nvSpPr>
          <p:cNvPr id="8" name="TextBox 8"/>
          <p:cNvSpPr txBox="1"/>
          <p:nvPr/>
        </p:nvSpPr>
        <p:spPr>
          <a:xfrm>
            <a:off x="1028700" y="3121576"/>
            <a:ext cx="7072639" cy="1209674"/>
          </a:xfrm>
          <a:prstGeom prst="rect">
            <a:avLst/>
          </a:prstGeom>
        </p:spPr>
        <p:txBody>
          <a:bodyPr lIns="0" tIns="0" rIns="0" bIns="0" rtlCol="0" anchor="t">
            <a:spAutoFit/>
          </a:bodyPr>
          <a:lstStyle/>
          <a:p>
            <a:pPr algn="l">
              <a:lnSpc>
                <a:spcPts val="8400"/>
              </a:lnSpc>
            </a:pPr>
            <a:r>
              <a:rPr lang="en-US" sz="6000">
                <a:solidFill>
                  <a:srgbClr val="343434"/>
                </a:solidFill>
                <a:latin typeface="Cooper Hewitt"/>
                <a:ea typeface="Cooper Hewitt"/>
                <a:cs typeface="Cooper Hewitt"/>
                <a:sym typeface="Cooper Hewitt"/>
              </a:rPr>
              <a:t>MOTIVATION</a:t>
            </a:r>
          </a:p>
        </p:txBody>
      </p:sp>
      <p:sp>
        <p:nvSpPr>
          <p:cNvPr id="9" name="TextBox 9"/>
          <p:cNvSpPr txBox="1"/>
          <p:nvPr/>
        </p:nvSpPr>
        <p:spPr>
          <a:xfrm>
            <a:off x="1028700" y="4654076"/>
            <a:ext cx="7579573" cy="4625975"/>
          </a:xfrm>
          <a:prstGeom prst="rect">
            <a:avLst/>
          </a:prstGeom>
        </p:spPr>
        <p:txBody>
          <a:bodyPr lIns="0" tIns="0" rIns="0" bIns="0" rtlCol="0" anchor="t">
            <a:spAutoFit/>
          </a:bodyPr>
          <a:lstStyle/>
          <a:p>
            <a:pPr marL="431799" lvl="1" indent="-215899" algn="l">
              <a:lnSpc>
                <a:spcPts val="2799"/>
              </a:lnSpc>
              <a:buFont typeface="Arial"/>
              <a:buChar char="•"/>
            </a:pPr>
            <a:r>
              <a:rPr lang="en-US" sz="1999">
                <a:solidFill>
                  <a:srgbClr val="343434"/>
                </a:solidFill>
                <a:latin typeface="Cooper Hewitt"/>
                <a:ea typeface="Cooper Hewitt"/>
                <a:cs typeface="Cooper Hewitt"/>
                <a:sym typeface="Cooper Hewitt"/>
              </a:rPr>
              <a:t>As ML models evolve, we want a hardware accelerator to adapt to different ML model requirements.</a:t>
            </a:r>
          </a:p>
          <a:p>
            <a:pPr algn="l">
              <a:lnSpc>
                <a:spcPts val="2799"/>
              </a:lnSpc>
            </a:pPr>
            <a:endParaRPr lang="en-US" sz="1999">
              <a:solidFill>
                <a:srgbClr val="343434"/>
              </a:solidFill>
              <a:latin typeface="Cooper Hewitt"/>
              <a:ea typeface="Cooper Hewitt"/>
              <a:cs typeface="Cooper Hewitt"/>
              <a:sym typeface="Cooper Hewitt"/>
            </a:endParaRPr>
          </a:p>
          <a:p>
            <a:pPr marL="431799" lvl="1" indent="-215899" algn="l">
              <a:lnSpc>
                <a:spcPts val="2799"/>
              </a:lnSpc>
              <a:buFont typeface="Arial"/>
              <a:buChar char="•"/>
            </a:pPr>
            <a:r>
              <a:rPr lang="en-US" sz="1999">
                <a:solidFill>
                  <a:srgbClr val="343434"/>
                </a:solidFill>
                <a:latin typeface="Cooper Hewitt"/>
                <a:ea typeface="Cooper Hewitt"/>
                <a:cs typeface="Cooper Hewitt"/>
                <a:sym typeface="Cooper Hewitt"/>
              </a:rPr>
              <a:t>A popular architecture in present research demonstrates the use of systolic arrays.</a:t>
            </a:r>
          </a:p>
          <a:p>
            <a:pPr algn="l">
              <a:lnSpc>
                <a:spcPts val="2799"/>
              </a:lnSpc>
            </a:pPr>
            <a:endParaRPr lang="en-US" sz="1999">
              <a:solidFill>
                <a:srgbClr val="343434"/>
              </a:solidFill>
              <a:latin typeface="Cooper Hewitt"/>
              <a:ea typeface="Cooper Hewitt"/>
              <a:cs typeface="Cooper Hewitt"/>
              <a:sym typeface="Cooper Hewitt"/>
            </a:endParaRPr>
          </a:p>
          <a:p>
            <a:pPr marL="431799" lvl="1" indent="-215899" algn="l">
              <a:lnSpc>
                <a:spcPts val="2799"/>
              </a:lnSpc>
              <a:buFont typeface="Arial"/>
              <a:buChar char="•"/>
            </a:pPr>
            <a:r>
              <a:rPr lang="en-US" sz="1999">
                <a:solidFill>
                  <a:srgbClr val="343434"/>
                </a:solidFill>
                <a:latin typeface="Cooper Hewitt"/>
                <a:ea typeface="Cooper Hewitt"/>
                <a:cs typeface="Cooper Hewitt"/>
                <a:sym typeface="Cooper Hewitt"/>
              </a:rPr>
              <a:t>Like a heart, data flows through an array of processing elements to execute MAC operations for ML inferencing.</a:t>
            </a:r>
          </a:p>
          <a:p>
            <a:pPr algn="l">
              <a:lnSpc>
                <a:spcPts val="2799"/>
              </a:lnSpc>
            </a:pPr>
            <a:endParaRPr lang="en-US" sz="1999">
              <a:solidFill>
                <a:srgbClr val="343434"/>
              </a:solidFill>
              <a:latin typeface="Cooper Hewitt"/>
              <a:ea typeface="Cooper Hewitt"/>
              <a:cs typeface="Cooper Hewitt"/>
              <a:sym typeface="Cooper Hewitt"/>
            </a:endParaRPr>
          </a:p>
          <a:p>
            <a:pPr marL="431799" lvl="1" indent="-215899" algn="l">
              <a:lnSpc>
                <a:spcPts val="2799"/>
              </a:lnSpc>
              <a:buFont typeface="Arial"/>
              <a:buChar char="•"/>
            </a:pPr>
            <a:r>
              <a:rPr lang="en-US" sz="1999">
                <a:solidFill>
                  <a:srgbClr val="343434"/>
                </a:solidFill>
                <a:latin typeface="Cooper Hewitt"/>
                <a:ea typeface="Cooper Hewitt"/>
                <a:cs typeface="Cooper Hewitt"/>
                <a:sym typeface="Cooper Hewitt"/>
              </a:rPr>
              <a:t>Due to the interconnections, data is passed on without having to access memory</a:t>
            </a:r>
          </a:p>
          <a:p>
            <a:pPr algn="l">
              <a:lnSpc>
                <a:spcPts val="2799"/>
              </a:lnSpc>
            </a:pPr>
            <a:endParaRPr lang="en-US" sz="1999">
              <a:solidFill>
                <a:srgbClr val="343434"/>
              </a:solidFill>
              <a:latin typeface="Cooper Hewitt"/>
              <a:ea typeface="Cooper Hewitt"/>
              <a:cs typeface="Cooper Hewitt"/>
              <a:sym typeface="Cooper Hewitt"/>
            </a:endParaRPr>
          </a:p>
          <a:p>
            <a:pPr algn="l">
              <a:lnSpc>
                <a:spcPts val="2799"/>
              </a:lnSpc>
            </a:pPr>
            <a:endParaRPr lang="en-US" sz="1999">
              <a:solidFill>
                <a:srgbClr val="343434"/>
              </a:solidFill>
              <a:latin typeface="Cooper Hewitt"/>
              <a:ea typeface="Cooper Hewitt"/>
              <a:cs typeface="Cooper Hewitt"/>
              <a:sym typeface="Cooper Hewitt"/>
            </a:endParaRPr>
          </a:p>
        </p:txBody>
      </p:sp>
      <p:sp>
        <p:nvSpPr>
          <p:cNvPr id="10" name="Freeform 10"/>
          <p:cNvSpPr/>
          <p:nvPr/>
        </p:nvSpPr>
        <p:spPr>
          <a:xfrm>
            <a:off x="11499835" y="3243315"/>
            <a:ext cx="4768894" cy="4768894"/>
          </a:xfrm>
          <a:custGeom>
            <a:avLst/>
            <a:gdLst/>
            <a:ahLst/>
            <a:cxnLst/>
            <a:rect l="l" t="t" r="r" b="b"/>
            <a:pathLst>
              <a:path w="4768894" h="4768894">
                <a:moveTo>
                  <a:pt x="0" y="0"/>
                </a:moveTo>
                <a:lnTo>
                  <a:pt x="4768894" y="0"/>
                </a:lnTo>
                <a:lnTo>
                  <a:pt x="4768894" y="4768894"/>
                </a:lnTo>
                <a:lnTo>
                  <a:pt x="0" y="476889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NZ"/>
          </a:p>
        </p:txBody>
      </p:sp>
      <p:grpSp>
        <p:nvGrpSpPr>
          <p:cNvPr id="11" name="Group 11"/>
          <p:cNvGrpSpPr/>
          <p:nvPr/>
        </p:nvGrpSpPr>
        <p:grpSpPr>
          <a:xfrm>
            <a:off x="11147808" y="3788099"/>
            <a:ext cx="5316267" cy="240348"/>
            <a:chOff x="0" y="0"/>
            <a:chExt cx="7088356" cy="320464"/>
          </a:xfrm>
        </p:grpSpPr>
        <p:grpSp>
          <p:nvGrpSpPr>
            <p:cNvPr id="12" name="Group 12"/>
            <p:cNvGrpSpPr/>
            <p:nvPr/>
          </p:nvGrpSpPr>
          <p:grpSpPr>
            <a:xfrm>
              <a:off x="2215197" y="0"/>
              <a:ext cx="520922" cy="320464"/>
              <a:chOff x="0" y="0"/>
              <a:chExt cx="1082086" cy="665685"/>
            </a:xfrm>
          </p:grpSpPr>
          <p:sp>
            <p:nvSpPr>
              <p:cNvPr id="13" name="Freeform 13"/>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FABDBD"/>
              </a:solidFill>
            </p:spPr>
            <p:txBody>
              <a:bodyPr/>
              <a:lstStyle/>
              <a:p>
                <a:endParaRPr lang="en-NZ"/>
              </a:p>
            </p:txBody>
          </p:sp>
          <p:sp>
            <p:nvSpPr>
              <p:cNvPr id="14" name="TextBox 14"/>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15" name="Group 15"/>
            <p:cNvGrpSpPr/>
            <p:nvPr/>
          </p:nvGrpSpPr>
          <p:grpSpPr>
            <a:xfrm>
              <a:off x="4428053" y="0"/>
              <a:ext cx="520922" cy="320464"/>
              <a:chOff x="0" y="0"/>
              <a:chExt cx="1082086" cy="665685"/>
            </a:xfrm>
          </p:grpSpPr>
          <p:sp>
            <p:nvSpPr>
              <p:cNvPr id="16" name="Freeform 16"/>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FABDBD"/>
              </a:solidFill>
            </p:spPr>
            <p:txBody>
              <a:bodyPr/>
              <a:lstStyle/>
              <a:p>
                <a:endParaRPr lang="en-NZ"/>
              </a:p>
            </p:txBody>
          </p:sp>
          <p:sp>
            <p:nvSpPr>
              <p:cNvPr id="17" name="TextBox 17"/>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18" name="Group 18"/>
            <p:cNvGrpSpPr/>
            <p:nvPr/>
          </p:nvGrpSpPr>
          <p:grpSpPr>
            <a:xfrm>
              <a:off x="0" y="0"/>
              <a:ext cx="520922" cy="320464"/>
              <a:chOff x="0" y="0"/>
              <a:chExt cx="1082086" cy="665685"/>
            </a:xfrm>
          </p:grpSpPr>
          <p:sp>
            <p:nvSpPr>
              <p:cNvPr id="19" name="Freeform 19"/>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FABDBD"/>
              </a:solidFill>
            </p:spPr>
            <p:txBody>
              <a:bodyPr/>
              <a:lstStyle/>
              <a:p>
                <a:endParaRPr lang="en-NZ"/>
              </a:p>
            </p:txBody>
          </p:sp>
          <p:sp>
            <p:nvSpPr>
              <p:cNvPr id="20" name="TextBox 20"/>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21" name="Group 21"/>
            <p:cNvGrpSpPr/>
            <p:nvPr/>
          </p:nvGrpSpPr>
          <p:grpSpPr>
            <a:xfrm>
              <a:off x="6567434" y="0"/>
              <a:ext cx="520922" cy="320464"/>
              <a:chOff x="0" y="0"/>
              <a:chExt cx="1082086" cy="665685"/>
            </a:xfrm>
          </p:grpSpPr>
          <p:sp>
            <p:nvSpPr>
              <p:cNvPr id="22" name="Freeform 22"/>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FABDBD"/>
              </a:solidFill>
            </p:spPr>
            <p:txBody>
              <a:bodyPr/>
              <a:lstStyle/>
              <a:p>
                <a:endParaRPr lang="en-NZ"/>
              </a:p>
            </p:txBody>
          </p:sp>
          <p:sp>
            <p:nvSpPr>
              <p:cNvPr id="23" name="TextBox 23"/>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grpSp>
        <p:nvGrpSpPr>
          <p:cNvPr id="24" name="Group 24"/>
          <p:cNvGrpSpPr/>
          <p:nvPr/>
        </p:nvGrpSpPr>
        <p:grpSpPr>
          <a:xfrm>
            <a:off x="11147808" y="5447741"/>
            <a:ext cx="5316267" cy="240348"/>
            <a:chOff x="0" y="0"/>
            <a:chExt cx="7088356" cy="320464"/>
          </a:xfrm>
        </p:grpSpPr>
        <p:grpSp>
          <p:nvGrpSpPr>
            <p:cNvPr id="25" name="Group 25"/>
            <p:cNvGrpSpPr/>
            <p:nvPr/>
          </p:nvGrpSpPr>
          <p:grpSpPr>
            <a:xfrm>
              <a:off x="2215197" y="0"/>
              <a:ext cx="520922" cy="320464"/>
              <a:chOff x="0" y="0"/>
              <a:chExt cx="1082086" cy="665685"/>
            </a:xfrm>
          </p:grpSpPr>
          <p:sp>
            <p:nvSpPr>
              <p:cNvPr id="26" name="Freeform 26"/>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FABDBD"/>
              </a:solidFill>
            </p:spPr>
            <p:txBody>
              <a:bodyPr/>
              <a:lstStyle/>
              <a:p>
                <a:endParaRPr lang="en-NZ"/>
              </a:p>
            </p:txBody>
          </p:sp>
          <p:sp>
            <p:nvSpPr>
              <p:cNvPr id="27" name="TextBox 27"/>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28" name="Group 28"/>
            <p:cNvGrpSpPr/>
            <p:nvPr/>
          </p:nvGrpSpPr>
          <p:grpSpPr>
            <a:xfrm>
              <a:off x="4428053" y="0"/>
              <a:ext cx="520922" cy="320464"/>
              <a:chOff x="0" y="0"/>
              <a:chExt cx="1082086" cy="665685"/>
            </a:xfrm>
          </p:grpSpPr>
          <p:sp>
            <p:nvSpPr>
              <p:cNvPr id="29" name="Freeform 29"/>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FABDBD"/>
              </a:solidFill>
            </p:spPr>
            <p:txBody>
              <a:bodyPr/>
              <a:lstStyle/>
              <a:p>
                <a:endParaRPr lang="en-NZ"/>
              </a:p>
            </p:txBody>
          </p:sp>
          <p:sp>
            <p:nvSpPr>
              <p:cNvPr id="30" name="TextBox 30"/>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31" name="Group 31"/>
            <p:cNvGrpSpPr/>
            <p:nvPr/>
          </p:nvGrpSpPr>
          <p:grpSpPr>
            <a:xfrm>
              <a:off x="0" y="0"/>
              <a:ext cx="520922" cy="320464"/>
              <a:chOff x="0" y="0"/>
              <a:chExt cx="1082086" cy="665685"/>
            </a:xfrm>
          </p:grpSpPr>
          <p:sp>
            <p:nvSpPr>
              <p:cNvPr id="32" name="Freeform 32"/>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FABDBD"/>
              </a:solidFill>
            </p:spPr>
            <p:txBody>
              <a:bodyPr/>
              <a:lstStyle/>
              <a:p>
                <a:endParaRPr lang="en-NZ"/>
              </a:p>
            </p:txBody>
          </p:sp>
          <p:sp>
            <p:nvSpPr>
              <p:cNvPr id="33" name="TextBox 33"/>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34" name="Group 34"/>
            <p:cNvGrpSpPr/>
            <p:nvPr/>
          </p:nvGrpSpPr>
          <p:grpSpPr>
            <a:xfrm>
              <a:off x="6567434" y="0"/>
              <a:ext cx="520922" cy="320464"/>
              <a:chOff x="0" y="0"/>
              <a:chExt cx="1082086" cy="665685"/>
            </a:xfrm>
          </p:grpSpPr>
          <p:sp>
            <p:nvSpPr>
              <p:cNvPr id="35" name="Freeform 35"/>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FABDBD"/>
              </a:solidFill>
            </p:spPr>
            <p:txBody>
              <a:bodyPr/>
              <a:lstStyle/>
              <a:p>
                <a:endParaRPr lang="en-NZ"/>
              </a:p>
            </p:txBody>
          </p:sp>
          <p:sp>
            <p:nvSpPr>
              <p:cNvPr id="36" name="TextBox 36"/>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grpSp>
        <p:nvGrpSpPr>
          <p:cNvPr id="37" name="Group 37"/>
          <p:cNvGrpSpPr/>
          <p:nvPr/>
        </p:nvGrpSpPr>
        <p:grpSpPr>
          <a:xfrm>
            <a:off x="11147808" y="7032674"/>
            <a:ext cx="5316267" cy="240348"/>
            <a:chOff x="0" y="0"/>
            <a:chExt cx="7088356" cy="320464"/>
          </a:xfrm>
        </p:grpSpPr>
        <p:grpSp>
          <p:nvGrpSpPr>
            <p:cNvPr id="38" name="Group 38"/>
            <p:cNvGrpSpPr/>
            <p:nvPr/>
          </p:nvGrpSpPr>
          <p:grpSpPr>
            <a:xfrm>
              <a:off x="2215197" y="0"/>
              <a:ext cx="520922" cy="320464"/>
              <a:chOff x="0" y="0"/>
              <a:chExt cx="1082086" cy="665685"/>
            </a:xfrm>
          </p:grpSpPr>
          <p:sp>
            <p:nvSpPr>
              <p:cNvPr id="39" name="Freeform 39"/>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FABDBD"/>
              </a:solidFill>
            </p:spPr>
            <p:txBody>
              <a:bodyPr/>
              <a:lstStyle/>
              <a:p>
                <a:endParaRPr lang="en-NZ"/>
              </a:p>
            </p:txBody>
          </p:sp>
          <p:sp>
            <p:nvSpPr>
              <p:cNvPr id="40" name="TextBox 40"/>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41" name="Group 41"/>
            <p:cNvGrpSpPr/>
            <p:nvPr/>
          </p:nvGrpSpPr>
          <p:grpSpPr>
            <a:xfrm>
              <a:off x="4428053" y="0"/>
              <a:ext cx="520922" cy="320464"/>
              <a:chOff x="0" y="0"/>
              <a:chExt cx="1082086" cy="665685"/>
            </a:xfrm>
          </p:grpSpPr>
          <p:sp>
            <p:nvSpPr>
              <p:cNvPr id="42" name="Freeform 42"/>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FABDBD"/>
              </a:solidFill>
            </p:spPr>
            <p:txBody>
              <a:bodyPr/>
              <a:lstStyle/>
              <a:p>
                <a:endParaRPr lang="en-NZ"/>
              </a:p>
            </p:txBody>
          </p:sp>
          <p:sp>
            <p:nvSpPr>
              <p:cNvPr id="43" name="TextBox 43"/>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44" name="Group 44"/>
            <p:cNvGrpSpPr/>
            <p:nvPr/>
          </p:nvGrpSpPr>
          <p:grpSpPr>
            <a:xfrm>
              <a:off x="0" y="0"/>
              <a:ext cx="520922" cy="320464"/>
              <a:chOff x="0" y="0"/>
              <a:chExt cx="1082086" cy="665685"/>
            </a:xfrm>
          </p:grpSpPr>
          <p:sp>
            <p:nvSpPr>
              <p:cNvPr id="45" name="Freeform 45"/>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FABDBD"/>
              </a:solidFill>
            </p:spPr>
            <p:txBody>
              <a:bodyPr/>
              <a:lstStyle/>
              <a:p>
                <a:endParaRPr lang="en-NZ"/>
              </a:p>
            </p:txBody>
          </p:sp>
          <p:sp>
            <p:nvSpPr>
              <p:cNvPr id="46" name="TextBox 46"/>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47" name="Group 47"/>
            <p:cNvGrpSpPr/>
            <p:nvPr/>
          </p:nvGrpSpPr>
          <p:grpSpPr>
            <a:xfrm>
              <a:off x="6567434" y="0"/>
              <a:ext cx="520922" cy="320464"/>
              <a:chOff x="0" y="0"/>
              <a:chExt cx="1082086" cy="665685"/>
            </a:xfrm>
          </p:grpSpPr>
          <p:sp>
            <p:nvSpPr>
              <p:cNvPr id="48" name="Freeform 48"/>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FABDBD"/>
              </a:solidFill>
            </p:spPr>
            <p:txBody>
              <a:bodyPr/>
              <a:lstStyle/>
              <a:p>
                <a:endParaRPr lang="en-NZ"/>
              </a:p>
            </p:txBody>
          </p:sp>
          <p:sp>
            <p:nvSpPr>
              <p:cNvPr id="49" name="TextBox 49"/>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grpSp>
        <p:nvGrpSpPr>
          <p:cNvPr id="50" name="Group 50"/>
          <p:cNvGrpSpPr/>
          <p:nvPr/>
        </p:nvGrpSpPr>
        <p:grpSpPr>
          <a:xfrm rot="5400000">
            <a:off x="9541316" y="5447741"/>
            <a:ext cx="5316267" cy="240348"/>
            <a:chOff x="0" y="0"/>
            <a:chExt cx="7088356" cy="320464"/>
          </a:xfrm>
        </p:grpSpPr>
        <p:grpSp>
          <p:nvGrpSpPr>
            <p:cNvPr id="51" name="Group 51"/>
            <p:cNvGrpSpPr/>
            <p:nvPr/>
          </p:nvGrpSpPr>
          <p:grpSpPr>
            <a:xfrm>
              <a:off x="2215197" y="0"/>
              <a:ext cx="520922" cy="320464"/>
              <a:chOff x="0" y="0"/>
              <a:chExt cx="1082086" cy="665685"/>
            </a:xfrm>
          </p:grpSpPr>
          <p:sp>
            <p:nvSpPr>
              <p:cNvPr id="52" name="Freeform 52"/>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DDA2A2"/>
              </a:solidFill>
            </p:spPr>
            <p:txBody>
              <a:bodyPr/>
              <a:lstStyle/>
              <a:p>
                <a:endParaRPr lang="en-NZ"/>
              </a:p>
            </p:txBody>
          </p:sp>
          <p:sp>
            <p:nvSpPr>
              <p:cNvPr id="53" name="TextBox 53"/>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54" name="Group 54"/>
            <p:cNvGrpSpPr/>
            <p:nvPr/>
          </p:nvGrpSpPr>
          <p:grpSpPr>
            <a:xfrm>
              <a:off x="4428053" y="0"/>
              <a:ext cx="520922" cy="320464"/>
              <a:chOff x="0" y="0"/>
              <a:chExt cx="1082086" cy="665685"/>
            </a:xfrm>
          </p:grpSpPr>
          <p:sp>
            <p:nvSpPr>
              <p:cNvPr id="55" name="Freeform 55"/>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DDA2A2"/>
              </a:solidFill>
            </p:spPr>
            <p:txBody>
              <a:bodyPr/>
              <a:lstStyle/>
              <a:p>
                <a:endParaRPr lang="en-NZ"/>
              </a:p>
            </p:txBody>
          </p:sp>
          <p:sp>
            <p:nvSpPr>
              <p:cNvPr id="56" name="TextBox 56"/>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57" name="Group 57"/>
            <p:cNvGrpSpPr/>
            <p:nvPr/>
          </p:nvGrpSpPr>
          <p:grpSpPr>
            <a:xfrm>
              <a:off x="0" y="0"/>
              <a:ext cx="520922" cy="320464"/>
              <a:chOff x="0" y="0"/>
              <a:chExt cx="1082086" cy="665685"/>
            </a:xfrm>
          </p:grpSpPr>
          <p:sp>
            <p:nvSpPr>
              <p:cNvPr id="58" name="Freeform 58"/>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DDA2A2"/>
              </a:solidFill>
            </p:spPr>
            <p:txBody>
              <a:bodyPr/>
              <a:lstStyle/>
              <a:p>
                <a:endParaRPr lang="en-NZ"/>
              </a:p>
            </p:txBody>
          </p:sp>
          <p:sp>
            <p:nvSpPr>
              <p:cNvPr id="59" name="TextBox 59"/>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60" name="Group 60"/>
            <p:cNvGrpSpPr/>
            <p:nvPr/>
          </p:nvGrpSpPr>
          <p:grpSpPr>
            <a:xfrm>
              <a:off x="6567434" y="0"/>
              <a:ext cx="520922" cy="320464"/>
              <a:chOff x="0" y="0"/>
              <a:chExt cx="1082086" cy="665685"/>
            </a:xfrm>
          </p:grpSpPr>
          <p:sp>
            <p:nvSpPr>
              <p:cNvPr id="61" name="Freeform 61"/>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DDA2A2"/>
              </a:solidFill>
            </p:spPr>
            <p:txBody>
              <a:bodyPr/>
              <a:lstStyle/>
              <a:p>
                <a:endParaRPr lang="en-NZ"/>
              </a:p>
            </p:txBody>
          </p:sp>
          <p:sp>
            <p:nvSpPr>
              <p:cNvPr id="62" name="TextBox 62"/>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grpSp>
        <p:nvGrpSpPr>
          <p:cNvPr id="63" name="Group 63"/>
          <p:cNvGrpSpPr/>
          <p:nvPr/>
        </p:nvGrpSpPr>
        <p:grpSpPr>
          <a:xfrm rot="5400000">
            <a:off x="11147808" y="5447741"/>
            <a:ext cx="5316267" cy="240348"/>
            <a:chOff x="0" y="0"/>
            <a:chExt cx="7088356" cy="320464"/>
          </a:xfrm>
        </p:grpSpPr>
        <p:grpSp>
          <p:nvGrpSpPr>
            <p:cNvPr id="64" name="Group 64"/>
            <p:cNvGrpSpPr/>
            <p:nvPr/>
          </p:nvGrpSpPr>
          <p:grpSpPr>
            <a:xfrm>
              <a:off x="2215197" y="0"/>
              <a:ext cx="520922" cy="320464"/>
              <a:chOff x="0" y="0"/>
              <a:chExt cx="1082086" cy="665685"/>
            </a:xfrm>
          </p:grpSpPr>
          <p:sp>
            <p:nvSpPr>
              <p:cNvPr id="65" name="Freeform 65"/>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DDA2A2"/>
              </a:solidFill>
            </p:spPr>
            <p:txBody>
              <a:bodyPr/>
              <a:lstStyle/>
              <a:p>
                <a:endParaRPr lang="en-NZ"/>
              </a:p>
            </p:txBody>
          </p:sp>
          <p:sp>
            <p:nvSpPr>
              <p:cNvPr id="66" name="TextBox 66"/>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67" name="Group 67"/>
            <p:cNvGrpSpPr/>
            <p:nvPr/>
          </p:nvGrpSpPr>
          <p:grpSpPr>
            <a:xfrm>
              <a:off x="4428053" y="0"/>
              <a:ext cx="520922" cy="320464"/>
              <a:chOff x="0" y="0"/>
              <a:chExt cx="1082086" cy="665685"/>
            </a:xfrm>
          </p:grpSpPr>
          <p:sp>
            <p:nvSpPr>
              <p:cNvPr id="68" name="Freeform 68"/>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DDA2A2"/>
              </a:solidFill>
            </p:spPr>
            <p:txBody>
              <a:bodyPr/>
              <a:lstStyle/>
              <a:p>
                <a:endParaRPr lang="en-NZ"/>
              </a:p>
            </p:txBody>
          </p:sp>
          <p:sp>
            <p:nvSpPr>
              <p:cNvPr id="69" name="TextBox 69"/>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70" name="Group 70"/>
            <p:cNvGrpSpPr/>
            <p:nvPr/>
          </p:nvGrpSpPr>
          <p:grpSpPr>
            <a:xfrm>
              <a:off x="0" y="0"/>
              <a:ext cx="520922" cy="320464"/>
              <a:chOff x="0" y="0"/>
              <a:chExt cx="1082086" cy="665685"/>
            </a:xfrm>
          </p:grpSpPr>
          <p:sp>
            <p:nvSpPr>
              <p:cNvPr id="71" name="Freeform 71"/>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DDA2A2"/>
              </a:solidFill>
            </p:spPr>
            <p:txBody>
              <a:bodyPr/>
              <a:lstStyle/>
              <a:p>
                <a:endParaRPr lang="en-NZ"/>
              </a:p>
            </p:txBody>
          </p:sp>
          <p:sp>
            <p:nvSpPr>
              <p:cNvPr id="72" name="TextBox 72"/>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73" name="Group 73"/>
            <p:cNvGrpSpPr/>
            <p:nvPr/>
          </p:nvGrpSpPr>
          <p:grpSpPr>
            <a:xfrm>
              <a:off x="6567434" y="0"/>
              <a:ext cx="520922" cy="320464"/>
              <a:chOff x="0" y="0"/>
              <a:chExt cx="1082086" cy="665685"/>
            </a:xfrm>
          </p:grpSpPr>
          <p:sp>
            <p:nvSpPr>
              <p:cNvPr id="74" name="Freeform 74"/>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DDA2A2"/>
              </a:solidFill>
            </p:spPr>
            <p:txBody>
              <a:bodyPr/>
              <a:lstStyle/>
              <a:p>
                <a:endParaRPr lang="en-NZ"/>
              </a:p>
            </p:txBody>
          </p:sp>
          <p:sp>
            <p:nvSpPr>
              <p:cNvPr id="75" name="TextBox 75"/>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grpSp>
        <p:nvGrpSpPr>
          <p:cNvPr id="76" name="Group 76"/>
          <p:cNvGrpSpPr/>
          <p:nvPr/>
        </p:nvGrpSpPr>
        <p:grpSpPr>
          <a:xfrm rot="5400000">
            <a:off x="12747516" y="5447741"/>
            <a:ext cx="5316267" cy="240348"/>
            <a:chOff x="0" y="0"/>
            <a:chExt cx="7088356" cy="320464"/>
          </a:xfrm>
        </p:grpSpPr>
        <p:grpSp>
          <p:nvGrpSpPr>
            <p:cNvPr id="77" name="Group 77"/>
            <p:cNvGrpSpPr/>
            <p:nvPr/>
          </p:nvGrpSpPr>
          <p:grpSpPr>
            <a:xfrm>
              <a:off x="2215197" y="0"/>
              <a:ext cx="520922" cy="320464"/>
              <a:chOff x="0" y="0"/>
              <a:chExt cx="1082086" cy="665685"/>
            </a:xfrm>
          </p:grpSpPr>
          <p:sp>
            <p:nvSpPr>
              <p:cNvPr id="78" name="Freeform 78"/>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DDA2A2"/>
              </a:solidFill>
            </p:spPr>
            <p:txBody>
              <a:bodyPr/>
              <a:lstStyle/>
              <a:p>
                <a:endParaRPr lang="en-NZ"/>
              </a:p>
            </p:txBody>
          </p:sp>
          <p:sp>
            <p:nvSpPr>
              <p:cNvPr id="79" name="TextBox 79"/>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80" name="Group 80"/>
            <p:cNvGrpSpPr/>
            <p:nvPr/>
          </p:nvGrpSpPr>
          <p:grpSpPr>
            <a:xfrm>
              <a:off x="4428053" y="0"/>
              <a:ext cx="520922" cy="320464"/>
              <a:chOff x="0" y="0"/>
              <a:chExt cx="1082086" cy="665685"/>
            </a:xfrm>
          </p:grpSpPr>
          <p:sp>
            <p:nvSpPr>
              <p:cNvPr id="81" name="Freeform 81"/>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DDA2A2"/>
              </a:solidFill>
            </p:spPr>
            <p:txBody>
              <a:bodyPr/>
              <a:lstStyle/>
              <a:p>
                <a:endParaRPr lang="en-NZ"/>
              </a:p>
            </p:txBody>
          </p:sp>
          <p:sp>
            <p:nvSpPr>
              <p:cNvPr id="82" name="TextBox 82"/>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83" name="Group 83"/>
            <p:cNvGrpSpPr/>
            <p:nvPr/>
          </p:nvGrpSpPr>
          <p:grpSpPr>
            <a:xfrm>
              <a:off x="0" y="0"/>
              <a:ext cx="520922" cy="320464"/>
              <a:chOff x="0" y="0"/>
              <a:chExt cx="1082086" cy="665685"/>
            </a:xfrm>
          </p:grpSpPr>
          <p:sp>
            <p:nvSpPr>
              <p:cNvPr id="84" name="Freeform 84"/>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DDA2A2"/>
              </a:solidFill>
            </p:spPr>
            <p:txBody>
              <a:bodyPr/>
              <a:lstStyle/>
              <a:p>
                <a:endParaRPr lang="en-NZ"/>
              </a:p>
            </p:txBody>
          </p:sp>
          <p:sp>
            <p:nvSpPr>
              <p:cNvPr id="85" name="TextBox 85"/>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nvGrpSpPr>
            <p:cNvPr id="86" name="Group 86"/>
            <p:cNvGrpSpPr/>
            <p:nvPr/>
          </p:nvGrpSpPr>
          <p:grpSpPr>
            <a:xfrm>
              <a:off x="6567434" y="0"/>
              <a:ext cx="520922" cy="320464"/>
              <a:chOff x="0" y="0"/>
              <a:chExt cx="1082086" cy="665685"/>
            </a:xfrm>
          </p:grpSpPr>
          <p:sp>
            <p:nvSpPr>
              <p:cNvPr id="87" name="Freeform 87"/>
              <p:cNvSpPr/>
              <p:nvPr/>
            </p:nvSpPr>
            <p:spPr>
              <a:xfrm>
                <a:off x="0" y="0"/>
                <a:ext cx="1082086" cy="665685"/>
              </a:xfrm>
              <a:custGeom>
                <a:avLst/>
                <a:gdLst/>
                <a:ahLst/>
                <a:cxnLst/>
                <a:rect l="l" t="t" r="r" b="b"/>
                <a:pathLst>
                  <a:path w="1082086" h="665685">
                    <a:moveTo>
                      <a:pt x="1082086" y="332843"/>
                    </a:moveTo>
                    <a:lnTo>
                      <a:pt x="675686" y="0"/>
                    </a:lnTo>
                    <a:lnTo>
                      <a:pt x="675686" y="203200"/>
                    </a:lnTo>
                    <a:lnTo>
                      <a:pt x="0" y="203200"/>
                    </a:lnTo>
                    <a:lnTo>
                      <a:pt x="0" y="462485"/>
                    </a:lnTo>
                    <a:lnTo>
                      <a:pt x="675686" y="462485"/>
                    </a:lnTo>
                    <a:lnTo>
                      <a:pt x="675686" y="665685"/>
                    </a:lnTo>
                    <a:lnTo>
                      <a:pt x="1082086" y="332843"/>
                    </a:lnTo>
                    <a:close/>
                  </a:path>
                </a:pathLst>
              </a:custGeom>
              <a:solidFill>
                <a:srgbClr val="DDA2A2"/>
              </a:solidFill>
            </p:spPr>
            <p:txBody>
              <a:bodyPr/>
              <a:lstStyle/>
              <a:p>
                <a:endParaRPr lang="en-NZ"/>
              </a:p>
            </p:txBody>
          </p:sp>
          <p:sp>
            <p:nvSpPr>
              <p:cNvPr id="88" name="TextBox 88"/>
              <p:cNvSpPr txBox="1"/>
              <p:nvPr/>
            </p:nvSpPr>
            <p:spPr>
              <a:xfrm>
                <a:off x="0" y="193675"/>
                <a:ext cx="980486" cy="268810"/>
              </a:xfrm>
              <a:prstGeom prst="rect">
                <a:avLst/>
              </a:prstGeom>
            </p:spPr>
            <p:txBody>
              <a:bodyPr lIns="50800" tIns="50800" rIns="50800" bIns="50800" rtlCol="0" anchor="ctr"/>
              <a:lstStyle/>
              <a:p>
                <a:pPr algn="ctr">
                  <a:lnSpc>
                    <a:spcPts val="1874"/>
                  </a:lnSpc>
                </a:pPr>
                <a:endParaRPr/>
              </a:p>
            </p:txBody>
          </p:sp>
        </p:grpSp>
      </p:grpSp>
      <p:sp>
        <p:nvSpPr>
          <p:cNvPr id="89" name="TextBox 89"/>
          <p:cNvSpPr txBox="1"/>
          <p:nvPr/>
        </p:nvSpPr>
        <p:spPr>
          <a:xfrm>
            <a:off x="11941268" y="3607650"/>
            <a:ext cx="516363" cy="534571"/>
          </a:xfrm>
          <a:prstGeom prst="rect">
            <a:avLst/>
          </a:prstGeom>
        </p:spPr>
        <p:txBody>
          <a:bodyPr lIns="0" tIns="0" rIns="0" bIns="0" rtlCol="0" anchor="t">
            <a:spAutoFit/>
          </a:bodyPr>
          <a:lstStyle/>
          <a:p>
            <a:pPr algn="ctr">
              <a:lnSpc>
                <a:spcPts val="4343"/>
              </a:lnSpc>
            </a:pPr>
            <a:r>
              <a:rPr lang="en-US" sz="3102" b="1">
                <a:solidFill>
                  <a:srgbClr val="343434"/>
                </a:solidFill>
                <a:latin typeface="DM Sans Bold"/>
                <a:ea typeface="DM Sans Bold"/>
                <a:cs typeface="DM Sans Bold"/>
                <a:sym typeface="DM Sans Bold"/>
              </a:rPr>
              <a:t>PE</a:t>
            </a:r>
          </a:p>
        </p:txBody>
      </p:sp>
      <p:sp>
        <p:nvSpPr>
          <p:cNvPr id="90" name="TextBox 90"/>
          <p:cNvSpPr txBox="1"/>
          <p:nvPr/>
        </p:nvSpPr>
        <p:spPr>
          <a:xfrm>
            <a:off x="13547759" y="3607650"/>
            <a:ext cx="516363" cy="534571"/>
          </a:xfrm>
          <a:prstGeom prst="rect">
            <a:avLst/>
          </a:prstGeom>
        </p:spPr>
        <p:txBody>
          <a:bodyPr lIns="0" tIns="0" rIns="0" bIns="0" rtlCol="0" anchor="t">
            <a:spAutoFit/>
          </a:bodyPr>
          <a:lstStyle/>
          <a:p>
            <a:pPr algn="ctr">
              <a:lnSpc>
                <a:spcPts val="4343"/>
              </a:lnSpc>
            </a:pPr>
            <a:r>
              <a:rPr lang="en-US" sz="3102" b="1">
                <a:solidFill>
                  <a:srgbClr val="343434"/>
                </a:solidFill>
                <a:latin typeface="DM Sans Bold"/>
                <a:ea typeface="DM Sans Bold"/>
                <a:cs typeface="DM Sans Bold"/>
                <a:sym typeface="DM Sans Bold"/>
              </a:rPr>
              <a:t>PE</a:t>
            </a:r>
          </a:p>
        </p:txBody>
      </p:sp>
      <p:sp>
        <p:nvSpPr>
          <p:cNvPr id="91" name="TextBox 91"/>
          <p:cNvSpPr txBox="1"/>
          <p:nvPr/>
        </p:nvSpPr>
        <p:spPr>
          <a:xfrm>
            <a:off x="15147468" y="3607650"/>
            <a:ext cx="516363" cy="534571"/>
          </a:xfrm>
          <a:prstGeom prst="rect">
            <a:avLst/>
          </a:prstGeom>
        </p:spPr>
        <p:txBody>
          <a:bodyPr lIns="0" tIns="0" rIns="0" bIns="0" rtlCol="0" anchor="t">
            <a:spAutoFit/>
          </a:bodyPr>
          <a:lstStyle/>
          <a:p>
            <a:pPr algn="ctr">
              <a:lnSpc>
                <a:spcPts val="4343"/>
              </a:lnSpc>
            </a:pPr>
            <a:r>
              <a:rPr lang="en-US" sz="3102" b="1">
                <a:solidFill>
                  <a:srgbClr val="343434"/>
                </a:solidFill>
                <a:latin typeface="DM Sans Bold"/>
                <a:ea typeface="DM Sans Bold"/>
                <a:cs typeface="DM Sans Bold"/>
                <a:sym typeface="DM Sans Bold"/>
              </a:rPr>
              <a:t>PE</a:t>
            </a:r>
          </a:p>
        </p:txBody>
      </p:sp>
      <p:sp>
        <p:nvSpPr>
          <p:cNvPr id="92" name="TextBox 92"/>
          <p:cNvSpPr txBox="1"/>
          <p:nvPr/>
        </p:nvSpPr>
        <p:spPr>
          <a:xfrm>
            <a:off x="11952773" y="5286824"/>
            <a:ext cx="516363" cy="534571"/>
          </a:xfrm>
          <a:prstGeom prst="rect">
            <a:avLst/>
          </a:prstGeom>
        </p:spPr>
        <p:txBody>
          <a:bodyPr lIns="0" tIns="0" rIns="0" bIns="0" rtlCol="0" anchor="t">
            <a:spAutoFit/>
          </a:bodyPr>
          <a:lstStyle/>
          <a:p>
            <a:pPr algn="ctr">
              <a:lnSpc>
                <a:spcPts val="4343"/>
              </a:lnSpc>
            </a:pPr>
            <a:r>
              <a:rPr lang="en-US" sz="3102" b="1">
                <a:solidFill>
                  <a:srgbClr val="343434"/>
                </a:solidFill>
                <a:latin typeface="DM Sans Bold"/>
                <a:ea typeface="DM Sans Bold"/>
                <a:cs typeface="DM Sans Bold"/>
                <a:sym typeface="DM Sans Bold"/>
              </a:rPr>
              <a:t>PE</a:t>
            </a:r>
          </a:p>
        </p:txBody>
      </p:sp>
      <p:sp>
        <p:nvSpPr>
          <p:cNvPr id="93" name="TextBox 93"/>
          <p:cNvSpPr txBox="1"/>
          <p:nvPr/>
        </p:nvSpPr>
        <p:spPr>
          <a:xfrm>
            <a:off x="13547759" y="5267292"/>
            <a:ext cx="516363" cy="534571"/>
          </a:xfrm>
          <a:prstGeom prst="rect">
            <a:avLst/>
          </a:prstGeom>
        </p:spPr>
        <p:txBody>
          <a:bodyPr lIns="0" tIns="0" rIns="0" bIns="0" rtlCol="0" anchor="t">
            <a:spAutoFit/>
          </a:bodyPr>
          <a:lstStyle/>
          <a:p>
            <a:pPr algn="ctr">
              <a:lnSpc>
                <a:spcPts val="4343"/>
              </a:lnSpc>
            </a:pPr>
            <a:r>
              <a:rPr lang="en-US" sz="3102" b="1">
                <a:solidFill>
                  <a:srgbClr val="343434"/>
                </a:solidFill>
                <a:latin typeface="DM Sans Bold"/>
                <a:ea typeface="DM Sans Bold"/>
                <a:cs typeface="DM Sans Bold"/>
                <a:sym typeface="DM Sans Bold"/>
              </a:rPr>
              <a:t>PE</a:t>
            </a:r>
          </a:p>
        </p:txBody>
      </p:sp>
      <p:sp>
        <p:nvSpPr>
          <p:cNvPr id="94" name="TextBox 94"/>
          <p:cNvSpPr txBox="1"/>
          <p:nvPr/>
        </p:nvSpPr>
        <p:spPr>
          <a:xfrm>
            <a:off x="15147468" y="5267292"/>
            <a:ext cx="516363" cy="534571"/>
          </a:xfrm>
          <a:prstGeom prst="rect">
            <a:avLst/>
          </a:prstGeom>
        </p:spPr>
        <p:txBody>
          <a:bodyPr lIns="0" tIns="0" rIns="0" bIns="0" rtlCol="0" anchor="t">
            <a:spAutoFit/>
          </a:bodyPr>
          <a:lstStyle/>
          <a:p>
            <a:pPr algn="ctr">
              <a:lnSpc>
                <a:spcPts val="4343"/>
              </a:lnSpc>
            </a:pPr>
            <a:r>
              <a:rPr lang="en-US" sz="3102" b="1">
                <a:solidFill>
                  <a:srgbClr val="343434"/>
                </a:solidFill>
                <a:latin typeface="DM Sans Bold"/>
                <a:ea typeface="DM Sans Bold"/>
                <a:cs typeface="DM Sans Bold"/>
                <a:sym typeface="DM Sans Bold"/>
              </a:rPr>
              <a:t>PE</a:t>
            </a:r>
          </a:p>
        </p:txBody>
      </p:sp>
      <p:sp>
        <p:nvSpPr>
          <p:cNvPr id="95" name="TextBox 95"/>
          <p:cNvSpPr txBox="1"/>
          <p:nvPr/>
        </p:nvSpPr>
        <p:spPr>
          <a:xfrm>
            <a:off x="11941268" y="6861991"/>
            <a:ext cx="516363" cy="534571"/>
          </a:xfrm>
          <a:prstGeom prst="rect">
            <a:avLst/>
          </a:prstGeom>
        </p:spPr>
        <p:txBody>
          <a:bodyPr lIns="0" tIns="0" rIns="0" bIns="0" rtlCol="0" anchor="t">
            <a:spAutoFit/>
          </a:bodyPr>
          <a:lstStyle/>
          <a:p>
            <a:pPr algn="ctr">
              <a:lnSpc>
                <a:spcPts val="4343"/>
              </a:lnSpc>
            </a:pPr>
            <a:r>
              <a:rPr lang="en-US" sz="3102" b="1">
                <a:solidFill>
                  <a:srgbClr val="343434"/>
                </a:solidFill>
                <a:latin typeface="DM Sans Bold"/>
                <a:ea typeface="DM Sans Bold"/>
                <a:cs typeface="DM Sans Bold"/>
                <a:sym typeface="DM Sans Bold"/>
              </a:rPr>
              <a:t>PE</a:t>
            </a:r>
          </a:p>
        </p:txBody>
      </p:sp>
      <p:sp>
        <p:nvSpPr>
          <p:cNvPr id="96" name="TextBox 96"/>
          <p:cNvSpPr txBox="1"/>
          <p:nvPr/>
        </p:nvSpPr>
        <p:spPr>
          <a:xfrm>
            <a:off x="13547759" y="6852225"/>
            <a:ext cx="516363" cy="534571"/>
          </a:xfrm>
          <a:prstGeom prst="rect">
            <a:avLst/>
          </a:prstGeom>
        </p:spPr>
        <p:txBody>
          <a:bodyPr lIns="0" tIns="0" rIns="0" bIns="0" rtlCol="0" anchor="t">
            <a:spAutoFit/>
          </a:bodyPr>
          <a:lstStyle/>
          <a:p>
            <a:pPr algn="ctr">
              <a:lnSpc>
                <a:spcPts val="4343"/>
              </a:lnSpc>
            </a:pPr>
            <a:r>
              <a:rPr lang="en-US" sz="3102" b="1">
                <a:solidFill>
                  <a:srgbClr val="343434"/>
                </a:solidFill>
                <a:latin typeface="DM Sans Bold"/>
                <a:ea typeface="DM Sans Bold"/>
                <a:cs typeface="DM Sans Bold"/>
                <a:sym typeface="DM Sans Bold"/>
              </a:rPr>
              <a:t>PE</a:t>
            </a:r>
          </a:p>
        </p:txBody>
      </p:sp>
      <p:sp>
        <p:nvSpPr>
          <p:cNvPr id="97" name="TextBox 97"/>
          <p:cNvSpPr txBox="1"/>
          <p:nvPr/>
        </p:nvSpPr>
        <p:spPr>
          <a:xfrm>
            <a:off x="15147468" y="6861991"/>
            <a:ext cx="516363" cy="534571"/>
          </a:xfrm>
          <a:prstGeom prst="rect">
            <a:avLst/>
          </a:prstGeom>
        </p:spPr>
        <p:txBody>
          <a:bodyPr lIns="0" tIns="0" rIns="0" bIns="0" rtlCol="0" anchor="t">
            <a:spAutoFit/>
          </a:bodyPr>
          <a:lstStyle/>
          <a:p>
            <a:pPr algn="ctr">
              <a:lnSpc>
                <a:spcPts val="4343"/>
              </a:lnSpc>
            </a:pPr>
            <a:r>
              <a:rPr lang="en-US" sz="3102" b="1">
                <a:solidFill>
                  <a:srgbClr val="343434"/>
                </a:solidFill>
                <a:latin typeface="DM Sans Bold"/>
                <a:ea typeface="DM Sans Bold"/>
                <a:cs typeface="DM Sans Bold"/>
                <a:sym typeface="DM Sans Bold"/>
              </a:rPr>
              <a:t>PE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485035" y="-4485535"/>
            <a:ext cx="19258069" cy="19258069"/>
          </a:xfrm>
          <a:custGeom>
            <a:avLst/>
            <a:gdLst/>
            <a:ahLst/>
            <a:cxnLst/>
            <a:rect l="l" t="t" r="r" b="b"/>
            <a:pathLst>
              <a:path w="19258069" h="19258069">
                <a:moveTo>
                  <a:pt x="0" y="0"/>
                </a:moveTo>
                <a:lnTo>
                  <a:pt x="19258070" y="0"/>
                </a:lnTo>
                <a:lnTo>
                  <a:pt x="19258070" y="19258070"/>
                </a:lnTo>
                <a:lnTo>
                  <a:pt x="0" y="19258070"/>
                </a:lnTo>
                <a:lnTo>
                  <a:pt x="0" y="0"/>
                </a:lnTo>
                <a:close/>
              </a:path>
            </a:pathLst>
          </a:custGeom>
          <a:blipFill>
            <a:blip r:embed="rId3">
              <a:alphaModFix amt="4000"/>
              <a:extLst>
                <a:ext uri="{96DAC541-7B7A-43D3-8B79-37D633B846F1}">
                  <asvg:svgBlip xmlns:asvg="http://schemas.microsoft.com/office/drawing/2016/SVG/main" r:embed="rId4"/>
                </a:ext>
              </a:extLst>
            </a:blip>
            <a:stretch>
              <a:fillRect/>
            </a:stretch>
          </a:blipFill>
        </p:spPr>
        <p:txBody>
          <a:bodyPr/>
          <a:lstStyle/>
          <a:p>
            <a:endParaRPr lang="en-NZ"/>
          </a:p>
        </p:txBody>
      </p:sp>
      <p:grpSp>
        <p:nvGrpSpPr>
          <p:cNvPr id="3" name="Group 3"/>
          <p:cNvGrpSpPr/>
          <p:nvPr/>
        </p:nvGrpSpPr>
        <p:grpSpPr>
          <a:xfrm>
            <a:off x="1028700" y="1028700"/>
            <a:ext cx="852555" cy="852555"/>
            <a:chOff x="0" y="0"/>
            <a:chExt cx="1136740" cy="1136740"/>
          </a:xfrm>
        </p:grpSpPr>
        <p:sp>
          <p:nvSpPr>
            <p:cNvPr id="4" name="Freeform 4"/>
            <p:cNvSpPr/>
            <p:nvPr/>
          </p:nvSpPr>
          <p:spPr>
            <a:xfrm>
              <a:off x="0" y="0"/>
              <a:ext cx="1136740" cy="1136740"/>
            </a:xfrm>
            <a:custGeom>
              <a:avLst/>
              <a:gdLst/>
              <a:ahLst/>
              <a:cxnLst/>
              <a:rect l="l" t="t" r="r" b="b"/>
              <a:pathLst>
                <a:path w="1136740" h="1136740">
                  <a:moveTo>
                    <a:pt x="0" y="0"/>
                  </a:moveTo>
                  <a:lnTo>
                    <a:pt x="1136740" y="0"/>
                  </a:lnTo>
                  <a:lnTo>
                    <a:pt x="1136740" y="1136740"/>
                  </a:lnTo>
                  <a:lnTo>
                    <a:pt x="0" y="11367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5" name="TextBox 5"/>
            <p:cNvSpPr txBox="1"/>
            <p:nvPr/>
          </p:nvSpPr>
          <p:spPr>
            <a:xfrm>
              <a:off x="332697" y="488378"/>
              <a:ext cx="488373" cy="203562"/>
            </a:xfrm>
            <a:prstGeom prst="rect">
              <a:avLst/>
            </a:prstGeom>
          </p:spPr>
          <p:txBody>
            <a:bodyPr lIns="0" tIns="0" rIns="0" bIns="0" rtlCol="0" anchor="t">
              <a:spAutoFit/>
            </a:bodyPr>
            <a:lstStyle/>
            <a:p>
              <a:pPr algn="ctr">
                <a:lnSpc>
                  <a:spcPts val="1077"/>
                </a:lnSpc>
              </a:pPr>
              <a:r>
                <a:rPr lang="en-US" sz="1066" spc="-65">
                  <a:solidFill>
                    <a:srgbClr val="343434"/>
                  </a:solidFill>
                  <a:latin typeface="Mokoto Glitch 2"/>
                  <a:ea typeface="Mokoto Glitch 2"/>
                  <a:cs typeface="Mokoto Glitch 2"/>
                  <a:sym typeface="Mokoto Glitch 2"/>
                </a:rPr>
                <a:t>#43</a:t>
              </a:r>
            </a:p>
          </p:txBody>
        </p:sp>
      </p:grpSp>
      <p:sp>
        <p:nvSpPr>
          <p:cNvPr id="6" name="Freeform 6"/>
          <p:cNvSpPr/>
          <p:nvPr/>
        </p:nvSpPr>
        <p:spPr>
          <a:xfrm>
            <a:off x="3668131" y="4400222"/>
            <a:ext cx="3633279" cy="3533364"/>
          </a:xfrm>
          <a:custGeom>
            <a:avLst/>
            <a:gdLst/>
            <a:ahLst/>
            <a:cxnLst/>
            <a:rect l="l" t="t" r="r" b="b"/>
            <a:pathLst>
              <a:path w="3633279" h="3533364">
                <a:moveTo>
                  <a:pt x="0" y="0"/>
                </a:moveTo>
                <a:lnTo>
                  <a:pt x="3633279" y="0"/>
                </a:lnTo>
                <a:lnTo>
                  <a:pt x="3633279" y="3533364"/>
                </a:lnTo>
                <a:lnTo>
                  <a:pt x="0" y="353336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NZ"/>
          </a:p>
        </p:txBody>
      </p:sp>
      <p:sp>
        <p:nvSpPr>
          <p:cNvPr id="7" name="Freeform 7"/>
          <p:cNvSpPr/>
          <p:nvPr/>
        </p:nvSpPr>
        <p:spPr>
          <a:xfrm>
            <a:off x="10252437" y="4214338"/>
            <a:ext cx="5307721" cy="3715405"/>
          </a:xfrm>
          <a:custGeom>
            <a:avLst/>
            <a:gdLst/>
            <a:ahLst/>
            <a:cxnLst/>
            <a:rect l="l" t="t" r="r" b="b"/>
            <a:pathLst>
              <a:path w="5307721" h="3715405">
                <a:moveTo>
                  <a:pt x="0" y="0"/>
                </a:moveTo>
                <a:lnTo>
                  <a:pt x="5307722" y="0"/>
                </a:lnTo>
                <a:lnTo>
                  <a:pt x="5307722" y="3715405"/>
                </a:lnTo>
                <a:lnTo>
                  <a:pt x="0" y="3715405"/>
                </a:lnTo>
                <a:lnTo>
                  <a:pt x="0" y="0"/>
                </a:lnTo>
                <a:close/>
              </a:path>
            </a:pathLst>
          </a:custGeom>
          <a:blipFill>
            <a:blip r:embed="rId9"/>
            <a:stretch>
              <a:fillRect/>
            </a:stretch>
          </a:blipFill>
        </p:spPr>
        <p:txBody>
          <a:bodyPr/>
          <a:lstStyle/>
          <a:p>
            <a:endParaRPr lang="en-NZ"/>
          </a:p>
        </p:txBody>
      </p:sp>
      <p:sp>
        <p:nvSpPr>
          <p:cNvPr id="8" name="TextBox 8"/>
          <p:cNvSpPr txBox="1"/>
          <p:nvPr/>
        </p:nvSpPr>
        <p:spPr>
          <a:xfrm>
            <a:off x="5607681" y="1585980"/>
            <a:ext cx="7298617" cy="1209615"/>
          </a:xfrm>
          <a:prstGeom prst="rect">
            <a:avLst/>
          </a:prstGeom>
        </p:spPr>
        <p:txBody>
          <a:bodyPr lIns="0" tIns="0" rIns="0" bIns="0" rtlCol="0" anchor="t">
            <a:spAutoFit/>
          </a:bodyPr>
          <a:lstStyle/>
          <a:p>
            <a:pPr algn="ctr">
              <a:lnSpc>
                <a:spcPts val="8400"/>
              </a:lnSpc>
            </a:pPr>
            <a:r>
              <a:rPr lang="en-US" sz="6000">
                <a:solidFill>
                  <a:srgbClr val="343434"/>
                </a:solidFill>
                <a:latin typeface="Cooper Hewitt"/>
                <a:ea typeface="Cooper Hewitt"/>
                <a:cs typeface="Cooper Hewitt"/>
                <a:sym typeface="Cooper Hewitt"/>
              </a:rPr>
              <a:t>GAPS </a:t>
            </a:r>
            <a:r>
              <a:rPr lang="en-US" sz="6000" b="1">
                <a:solidFill>
                  <a:srgbClr val="343434"/>
                </a:solidFill>
                <a:latin typeface="Cooper Hewitt Bold"/>
                <a:ea typeface="Cooper Hewitt Bold"/>
                <a:cs typeface="Cooper Hewitt Bold"/>
                <a:sym typeface="Cooper Hewitt Bold"/>
              </a:rPr>
              <a:t>&amp; HYPOTHESIS</a:t>
            </a:r>
          </a:p>
        </p:txBody>
      </p:sp>
      <p:sp>
        <p:nvSpPr>
          <p:cNvPr id="9" name="TextBox 9"/>
          <p:cNvSpPr txBox="1"/>
          <p:nvPr/>
        </p:nvSpPr>
        <p:spPr>
          <a:xfrm>
            <a:off x="16253563" y="8953500"/>
            <a:ext cx="1005737" cy="304800"/>
          </a:xfrm>
          <a:prstGeom prst="rect">
            <a:avLst/>
          </a:prstGeom>
        </p:spPr>
        <p:txBody>
          <a:bodyPr lIns="0" tIns="0" rIns="0" bIns="0" rtlCol="0" anchor="t">
            <a:spAutoFit/>
          </a:bodyPr>
          <a:lstStyle/>
          <a:p>
            <a:pPr algn="r">
              <a:lnSpc>
                <a:spcPts val="2100"/>
              </a:lnSpc>
            </a:pPr>
            <a:r>
              <a:rPr lang="en-US" sz="1500" b="1">
                <a:solidFill>
                  <a:srgbClr val="343434"/>
                </a:solidFill>
                <a:latin typeface="Cooper Hewitt Bold"/>
                <a:ea typeface="Cooper Hewitt Bold"/>
                <a:cs typeface="Cooper Hewitt Bold"/>
                <a:sym typeface="Cooper Hewitt Bold"/>
              </a:rPr>
              <a:t>Page 04</a:t>
            </a:r>
          </a:p>
        </p:txBody>
      </p:sp>
      <p:sp>
        <p:nvSpPr>
          <p:cNvPr id="10" name="TextBox 10"/>
          <p:cNvSpPr txBox="1"/>
          <p:nvPr/>
        </p:nvSpPr>
        <p:spPr>
          <a:xfrm>
            <a:off x="3668131" y="2783289"/>
            <a:ext cx="11177717" cy="1365250"/>
          </a:xfrm>
          <a:prstGeom prst="rect">
            <a:avLst/>
          </a:prstGeom>
        </p:spPr>
        <p:txBody>
          <a:bodyPr lIns="0" tIns="0" rIns="0" bIns="0" rtlCol="0" anchor="t">
            <a:spAutoFit/>
          </a:bodyPr>
          <a:lstStyle/>
          <a:p>
            <a:pPr algn="ctr">
              <a:lnSpc>
                <a:spcPts val="3499"/>
              </a:lnSpc>
            </a:pPr>
            <a:r>
              <a:rPr lang="en-US" sz="2499">
                <a:solidFill>
                  <a:srgbClr val="343434"/>
                </a:solidFill>
                <a:latin typeface="Cooper Hewitt"/>
                <a:ea typeface="Cooper Hewitt"/>
                <a:cs typeface="Cooper Hewitt"/>
                <a:sym typeface="Cooper Hewitt"/>
              </a:rPr>
              <a:t>Gaps:</a:t>
            </a:r>
          </a:p>
          <a:p>
            <a:pPr marL="539749" lvl="1" indent="-269875" algn="ctr">
              <a:lnSpc>
                <a:spcPts val="3499"/>
              </a:lnSpc>
              <a:buAutoNum type="arabicPeriod"/>
            </a:pPr>
            <a:r>
              <a:rPr lang="en-US" sz="2499">
                <a:solidFill>
                  <a:srgbClr val="343434"/>
                </a:solidFill>
                <a:latin typeface="Cooper Hewitt"/>
                <a:ea typeface="Cooper Hewitt"/>
                <a:cs typeface="Cooper Hewitt"/>
                <a:sym typeface="Cooper Hewitt"/>
              </a:rPr>
              <a:t>Systolic arrays are efficient for dense matrices but inputs from ML are sparse. </a:t>
            </a:r>
          </a:p>
          <a:p>
            <a:pPr algn="ctr">
              <a:lnSpc>
                <a:spcPts val="3499"/>
              </a:lnSpc>
            </a:pPr>
            <a:r>
              <a:rPr lang="en-US" sz="2499">
                <a:solidFill>
                  <a:srgbClr val="343434"/>
                </a:solidFill>
                <a:latin typeface="Cooper Hewitt"/>
                <a:ea typeface="Cooper Hewitt"/>
                <a:cs typeface="Cooper Hewitt"/>
                <a:sym typeface="Cooper Hewitt"/>
              </a:rPr>
              <a:t>2.  Frequent memory accesses cause a higher consumption of energy.</a:t>
            </a:r>
          </a:p>
        </p:txBody>
      </p:sp>
      <p:sp>
        <p:nvSpPr>
          <p:cNvPr id="11" name="TextBox 11"/>
          <p:cNvSpPr txBox="1"/>
          <p:nvPr/>
        </p:nvSpPr>
        <p:spPr>
          <a:xfrm>
            <a:off x="3555141" y="8070969"/>
            <a:ext cx="11177717" cy="1803162"/>
          </a:xfrm>
          <a:prstGeom prst="rect">
            <a:avLst/>
          </a:prstGeom>
        </p:spPr>
        <p:txBody>
          <a:bodyPr lIns="0" tIns="0" rIns="0" bIns="0" rtlCol="0" anchor="t">
            <a:spAutoFit/>
          </a:bodyPr>
          <a:lstStyle/>
          <a:p>
            <a:pPr algn="ctr">
              <a:lnSpc>
                <a:spcPts val="3499"/>
              </a:lnSpc>
            </a:pPr>
            <a:r>
              <a:rPr lang="en-US" sz="2499" b="1">
                <a:solidFill>
                  <a:srgbClr val="343434"/>
                </a:solidFill>
                <a:latin typeface="Cooper Hewitt Bold"/>
                <a:ea typeface="Cooper Hewitt Bold"/>
                <a:cs typeface="Cooper Hewitt Bold"/>
                <a:sym typeface="Cooper Hewitt Bold"/>
              </a:rPr>
              <a:t>Hypothesis:</a:t>
            </a:r>
          </a:p>
          <a:p>
            <a:pPr algn="ctr">
              <a:lnSpc>
                <a:spcPts val="3499"/>
              </a:lnSpc>
            </a:pPr>
            <a:r>
              <a:rPr lang="en-US" sz="2499" b="1">
                <a:solidFill>
                  <a:srgbClr val="343434"/>
                </a:solidFill>
                <a:latin typeface="Cooper Hewitt Bold"/>
                <a:ea typeface="Cooper Hewitt Bold"/>
                <a:cs typeface="Cooper Hewitt Bold"/>
                <a:sym typeface="Cooper Hewitt Bold"/>
              </a:rPr>
              <a:t>Design a reconfigurable systolic array-based NPU controlled by a softcore processor to dynamically adapt the accelerator to different model requirements, data sparsity and application needs.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485035" y="-4485535"/>
            <a:ext cx="19258069" cy="19258069"/>
          </a:xfrm>
          <a:custGeom>
            <a:avLst/>
            <a:gdLst/>
            <a:ahLst/>
            <a:cxnLst/>
            <a:rect l="l" t="t" r="r" b="b"/>
            <a:pathLst>
              <a:path w="19258069" h="19258069">
                <a:moveTo>
                  <a:pt x="0" y="0"/>
                </a:moveTo>
                <a:lnTo>
                  <a:pt x="19258070" y="0"/>
                </a:lnTo>
                <a:lnTo>
                  <a:pt x="19258070" y="19258070"/>
                </a:lnTo>
                <a:lnTo>
                  <a:pt x="0" y="19258070"/>
                </a:lnTo>
                <a:lnTo>
                  <a:pt x="0" y="0"/>
                </a:lnTo>
                <a:close/>
              </a:path>
            </a:pathLst>
          </a:custGeom>
          <a:blipFill>
            <a:blip r:embed="rId3">
              <a:alphaModFix amt="4000"/>
              <a:extLst>
                <a:ext uri="{96DAC541-7B7A-43D3-8B79-37D633B846F1}">
                  <asvg:svgBlip xmlns:asvg="http://schemas.microsoft.com/office/drawing/2016/SVG/main" r:embed="rId4"/>
                </a:ext>
              </a:extLst>
            </a:blip>
            <a:stretch>
              <a:fillRect/>
            </a:stretch>
          </a:blipFill>
        </p:spPr>
        <p:txBody>
          <a:bodyPr/>
          <a:lstStyle/>
          <a:p>
            <a:endParaRPr lang="en-NZ"/>
          </a:p>
        </p:txBody>
      </p:sp>
      <p:grpSp>
        <p:nvGrpSpPr>
          <p:cNvPr id="3" name="Group 3"/>
          <p:cNvGrpSpPr/>
          <p:nvPr/>
        </p:nvGrpSpPr>
        <p:grpSpPr>
          <a:xfrm>
            <a:off x="1028700" y="1028700"/>
            <a:ext cx="852555" cy="852555"/>
            <a:chOff x="0" y="0"/>
            <a:chExt cx="1136740" cy="1136740"/>
          </a:xfrm>
        </p:grpSpPr>
        <p:sp>
          <p:nvSpPr>
            <p:cNvPr id="4" name="Freeform 4"/>
            <p:cNvSpPr/>
            <p:nvPr/>
          </p:nvSpPr>
          <p:spPr>
            <a:xfrm>
              <a:off x="0" y="0"/>
              <a:ext cx="1136740" cy="1136740"/>
            </a:xfrm>
            <a:custGeom>
              <a:avLst/>
              <a:gdLst/>
              <a:ahLst/>
              <a:cxnLst/>
              <a:rect l="l" t="t" r="r" b="b"/>
              <a:pathLst>
                <a:path w="1136740" h="1136740">
                  <a:moveTo>
                    <a:pt x="0" y="0"/>
                  </a:moveTo>
                  <a:lnTo>
                    <a:pt x="1136740" y="0"/>
                  </a:lnTo>
                  <a:lnTo>
                    <a:pt x="1136740" y="1136740"/>
                  </a:lnTo>
                  <a:lnTo>
                    <a:pt x="0" y="11367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5" name="TextBox 5"/>
            <p:cNvSpPr txBox="1"/>
            <p:nvPr/>
          </p:nvSpPr>
          <p:spPr>
            <a:xfrm>
              <a:off x="332697" y="488378"/>
              <a:ext cx="488373" cy="203562"/>
            </a:xfrm>
            <a:prstGeom prst="rect">
              <a:avLst/>
            </a:prstGeom>
          </p:spPr>
          <p:txBody>
            <a:bodyPr lIns="0" tIns="0" rIns="0" bIns="0" rtlCol="0" anchor="t">
              <a:spAutoFit/>
            </a:bodyPr>
            <a:lstStyle/>
            <a:p>
              <a:pPr algn="ctr">
                <a:lnSpc>
                  <a:spcPts val="1077"/>
                </a:lnSpc>
              </a:pPr>
              <a:r>
                <a:rPr lang="en-US" sz="1066" spc="-65">
                  <a:solidFill>
                    <a:srgbClr val="343434"/>
                  </a:solidFill>
                  <a:latin typeface="Mokoto Glitch 2"/>
                  <a:ea typeface="Mokoto Glitch 2"/>
                  <a:cs typeface="Mokoto Glitch 2"/>
                  <a:sym typeface="Mokoto Glitch 2"/>
                </a:rPr>
                <a:t>#43</a:t>
              </a:r>
            </a:p>
          </p:txBody>
        </p:sp>
      </p:grpSp>
      <p:grpSp>
        <p:nvGrpSpPr>
          <p:cNvPr id="6" name="Group 6"/>
          <p:cNvGrpSpPr/>
          <p:nvPr/>
        </p:nvGrpSpPr>
        <p:grpSpPr>
          <a:xfrm>
            <a:off x="8291046" y="4994680"/>
            <a:ext cx="3086100" cy="1831232"/>
            <a:chOff x="0" y="0"/>
            <a:chExt cx="812800" cy="482300"/>
          </a:xfrm>
        </p:grpSpPr>
        <p:sp>
          <p:nvSpPr>
            <p:cNvPr id="7" name="Freeform 7"/>
            <p:cNvSpPr/>
            <p:nvPr/>
          </p:nvSpPr>
          <p:spPr>
            <a:xfrm>
              <a:off x="0" y="0"/>
              <a:ext cx="812800" cy="482300"/>
            </a:xfrm>
            <a:custGeom>
              <a:avLst/>
              <a:gdLst/>
              <a:ahLst/>
              <a:cxnLst/>
              <a:rect l="l" t="t" r="r" b="b"/>
              <a:pathLst>
                <a:path w="812800" h="482300">
                  <a:moveTo>
                    <a:pt x="0" y="0"/>
                  </a:moveTo>
                  <a:lnTo>
                    <a:pt x="812800" y="0"/>
                  </a:lnTo>
                  <a:lnTo>
                    <a:pt x="812800" y="482300"/>
                  </a:lnTo>
                  <a:lnTo>
                    <a:pt x="0" y="482300"/>
                  </a:lnTo>
                  <a:close/>
                </a:path>
              </a:pathLst>
            </a:custGeom>
            <a:solidFill>
              <a:srgbClr val="000000">
                <a:alpha val="0"/>
              </a:srgbClr>
            </a:solidFill>
            <a:ln w="38100" cap="sq">
              <a:solidFill>
                <a:srgbClr val="BD0A0A"/>
              </a:solidFill>
              <a:prstDash val="sysDot"/>
              <a:miter/>
            </a:ln>
          </p:spPr>
          <p:txBody>
            <a:bodyPr/>
            <a:lstStyle/>
            <a:p>
              <a:endParaRPr lang="en-NZ"/>
            </a:p>
          </p:txBody>
        </p:sp>
        <p:sp>
          <p:nvSpPr>
            <p:cNvPr id="8" name="TextBox 8"/>
            <p:cNvSpPr txBox="1"/>
            <p:nvPr/>
          </p:nvSpPr>
          <p:spPr>
            <a:xfrm>
              <a:off x="0" y="-9525"/>
              <a:ext cx="812800" cy="491825"/>
            </a:xfrm>
            <a:prstGeom prst="rect">
              <a:avLst/>
            </a:prstGeom>
          </p:spPr>
          <p:txBody>
            <a:bodyPr lIns="50800" tIns="50800" rIns="50800" bIns="50800" rtlCol="0" anchor="ctr"/>
            <a:lstStyle/>
            <a:p>
              <a:pPr algn="ctr">
                <a:lnSpc>
                  <a:spcPts val="1874"/>
                </a:lnSpc>
              </a:pPr>
              <a:endParaRPr/>
            </a:p>
          </p:txBody>
        </p:sp>
      </p:grpSp>
      <p:sp>
        <p:nvSpPr>
          <p:cNvPr id="9" name="Freeform 9"/>
          <p:cNvSpPr/>
          <p:nvPr/>
        </p:nvSpPr>
        <p:spPr>
          <a:xfrm>
            <a:off x="6223772" y="3005204"/>
            <a:ext cx="5840455" cy="6356958"/>
          </a:xfrm>
          <a:custGeom>
            <a:avLst/>
            <a:gdLst/>
            <a:ahLst/>
            <a:cxnLst/>
            <a:rect l="l" t="t" r="r" b="b"/>
            <a:pathLst>
              <a:path w="5840455" h="6356958">
                <a:moveTo>
                  <a:pt x="0" y="0"/>
                </a:moveTo>
                <a:lnTo>
                  <a:pt x="5840456" y="0"/>
                </a:lnTo>
                <a:lnTo>
                  <a:pt x="5840456" y="6356958"/>
                </a:lnTo>
                <a:lnTo>
                  <a:pt x="0" y="6356958"/>
                </a:lnTo>
                <a:lnTo>
                  <a:pt x="0" y="0"/>
                </a:lnTo>
                <a:close/>
              </a:path>
            </a:pathLst>
          </a:custGeom>
          <a:blipFill>
            <a:blip r:embed="rId7"/>
            <a:stretch>
              <a:fillRect/>
            </a:stretch>
          </a:blipFill>
        </p:spPr>
        <p:txBody>
          <a:bodyPr/>
          <a:lstStyle/>
          <a:p>
            <a:endParaRPr lang="en-NZ"/>
          </a:p>
        </p:txBody>
      </p:sp>
      <p:sp>
        <p:nvSpPr>
          <p:cNvPr id="10" name="TextBox 10"/>
          <p:cNvSpPr txBox="1"/>
          <p:nvPr/>
        </p:nvSpPr>
        <p:spPr>
          <a:xfrm>
            <a:off x="4376149" y="1795530"/>
            <a:ext cx="9535701" cy="1209674"/>
          </a:xfrm>
          <a:prstGeom prst="rect">
            <a:avLst/>
          </a:prstGeom>
        </p:spPr>
        <p:txBody>
          <a:bodyPr lIns="0" tIns="0" rIns="0" bIns="0" rtlCol="0" anchor="t">
            <a:spAutoFit/>
          </a:bodyPr>
          <a:lstStyle/>
          <a:p>
            <a:pPr algn="l">
              <a:lnSpc>
                <a:spcPts val="8400"/>
              </a:lnSpc>
            </a:pPr>
            <a:r>
              <a:rPr lang="en-US" sz="6000" b="1">
                <a:solidFill>
                  <a:srgbClr val="343434"/>
                </a:solidFill>
                <a:latin typeface="Cooper Hewitt Bold"/>
                <a:ea typeface="Cooper Hewitt Bold"/>
                <a:cs typeface="Cooper Hewitt Bold"/>
                <a:sym typeface="Cooper Hewitt Bold"/>
              </a:rPr>
              <a:t>CURRENT</a:t>
            </a:r>
            <a:r>
              <a:rPr lang="en-US" sz="6000">
                <a:solidFill>
                  <a:srgbClr val="343434"/>
                </a:solidFill>
                <a:latin typeface="Cooper Hewitt"/>
                <a:ea typeface="Cooper Hewitt"/>
                <a:cs typeface="Cooper Hewitt"/>
                <a:sym typeface="Cooper Hewitt"/>
              </a:rPr>
              <a:t> IMPLEMENTATION</a:t>
            </a:r>
          </a:p>
        </p:txBody>
      </p:sp>
      <p:sp>
        <p:nvSpPr>
          <p:cNvPr id="11" name="TextBox 11"/>
          <p:cNvSpPr txBox="1"/>
          <p:nvPr/>
        </p:nvSpPr>
        <p:spPr>
          <a:xfrm>
            <a:off x="16253563" y="8953500"/>
            <a:ext cx="1005737" cy="304800"/>
          </a:xfrm>
          <a:prstGeom prst="rect">
            <a:avLst/>
          </a:prstGeom>
        </p:spPr>
        <p:txBody>
          <a:bodyPr lIns="0" tIns="0" rIns="0" bIns="0" rtlCol="0" anchor="t">
            <a:spAutoFit/>
          </a:bodyPr>
          <a:lstStyle/>
          <a:p>
            <a:pPr algn="r">
              <a:lnSpc>
                <a:spcPts val="2100"/>
              </a:lnSpc>
            </a:pPr>
            <a:r>
              <a:rPr lang="en-US" sz="1500" b="1">
                <a:solidFill>
                  <a:srgbClr val="343434"/>
                </a:solidFill>
                <a:latin typeface="Cooper Hewitt Bold"/>
                <a:ea typeface="Cooper Hewitt Bold"/>
                <a:cs typeface="Cooper Hewitt Bold"/>
                <a:sym typeface="Cooper Hewitt Bold"/>
              </a:rPr>
              <a:t>Page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485035" y="-4485535"/>
            <a:ext cx="19258069" cy="19258069"/>
          </a:xfrm>
          <a:custGeom>
            <a:avLst/>
            <a:gdLst/>
            <a:ahLst/>
            <a:cxnLst/>
            <a:rect l="l" t="t" r="r" b="b"/>
            <a:pathLst>
              <a:path w="19258069" h="19258069">
                <a:moveTo>
                  <a:pt x="0" y="0"/>
                </a:moveTo>
                <a:lnTo>
                  <a:pt x="19258070" y="0"/>
                </a:lnTo>
                <a:lnTo>
                  <a:pt x="19258070" y="19258070"/>
                </a:lnTo>
                <a:lnTo>
                  <a:pt x="0" y="19258070"/>
                </a:lnTo>
                <a:lnTo>
                  <a:pt x="0" y="0"/>
                </a:lnTo>
                <a:close/>
              </a:path>
            </a:pathLst>
          </a:custGeom>
          <a:blipFill>
            <a:blip r:embed="rId3">
              <a:alphaModFix amt="4000"/>
              <a:extLst>
                <a:ext uri="{96DAC541-7B7A-43D3-8B79-37D633B846F1}">
                  <asvg:svgBlip xmlns:asvg="http://schemas.microsoft.com/office/drawing/2016/SVG/main" r:embed="rId4"/>
                </a:ext>
              </a:extLst>
            </a:blip>
            <a:stretch>
              <a:fillRect/>
            </a:stretch>
          </a:blipFill>
        </p:spPr>
        <p:txBody>
          <a:bodyPr/>
          <a:lstStyle/>
          <a:p>
            <a:endParaRPr lang="en-NZ"/>
          </a:p>
        </p:txBody>
      </p:sp>
      <p:grpSp>
        <p:nvGrpSpPr>
          <p:cNvPr id="3" name="Group 3"/>
          <p:cNvGrpSpPr/>
          <p:nvPr/>
        </p:nvGrpSpPr>
        <p:grpSpPr>
          <a:xfrm>
            <a:off x="1028700" y="1028700"/>
            <a:ext cx="852555" cy="852555"/>
            <a:chOff x="0" y="0"/>
            <a:chExt cx="1136740" cy="1136740"/>
          </a:xfrm>
        </p:grpSpPr>
        <p:sp>
          <p:nvSpPr>
            <p:cNvPr id="4" name="Freeform 4"/>
            <p:cNvSpPr/>
            <p:nvPr/>
          </p:nvSpPr>
          <p:spPr>
            <a:xfrm>
              <a:off x="0" y="0"/>
              <a:ext cx="1136740" cy="1136740"/>
            </a:xfrm>
            <a:custGeom>
              <a:avLst/>
              <a:gdLst/>
              <a:ahLst/>
              <a:cxnLst/>
              <a:rect l="l" t="t" r="r" b="b"/>
              <a:pathLst>
                <a:path w="1136740" h="1136740">
                  <a:moveTo>
                    <a:pt x="0" y="0"/>
                  </a:moveTo>
                  <a:lnTo>
                    <a:pt x="1136740" y="0"/>
                  </a:lnTo>
                  <a:lnTo>
                    <a:pt x="1136740" y="1136740"/>
                  </a:lnTo>
                  <a:lnTo>
                    <a:pt x="0" y="11367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5" name="TextBox 5"/>
            <p:cNvSpPr txBox="1"/>
            <p:nvPr/>
          </p:nvSpPr>
          <p:spPr>
            <a:xfrm>
              <a:off x="332697" y="488378"/>
              <a:ext cx="488373" cy="203562"/>
            </a:xfrm>
            <a:prstGeom prst="rect">
              <a:avLst/>
            </a:prstGeom>
          </p:spPr>
          <p:txBody>
            <a:bodyPr lIns="0" tIns="0" rIns="0" bIns="0" rtlCol="0" anchor="t">
              <a:spAutoFit/>
            </a:bodyPr>
            <a:lstStyle/>
            <a:p>
              <a:pPr algn="ctr">
                <a:lnSpc>
                  <a:spcPts val="1077"/>
                </a:lnSpc>
              </a:pPr>
              <a:r>
                <a:rPr lang="en-US" sz="1066" spc="-65">
                  <a:solidFill>
                    <a:srgbClr val="343434"/>
                  </a:solidFill>
                  <a:latin typeface="Mokoto Glitch 2"/>
                  <a:ea typeface="Mokoto Glitch 2"/>
                  <a:cs typeface="Mokoto Glitch 2"/>
                  <a:sym typeface="Mokoto Glitch 2"/>
                </a:rPr>
                <a:t>#43</a:t>
              </a:r>
            </a:p>
          </p:txBody>
        </p:sp>
      </p:grpSp>
      <p:sp>
        <p:nvSpPr>
          <p:cNvPr id="6" name="Freeform 6"/>
          <p:cNvSpPr/>
          <p:nvPr/>
        </p:nvSpPr>
        <p:spPr>
          <a:xfrm>
            <a:off x="4886083" y="3278719"/>
            <a:ext cx="8515835" cy="5865281"/>
          </a:xfrm>
          <a:custGeom>
            <a:avLst/>
            <a:gdLst/>
            <a:ahLst/>
            <a:cxnLst/>
            <a:rect l="l" t="t" r="r" b="b"/>
            <a:pathLst>
              <a:path w="8515835" h="5865281">
                <a:moveTo>
                  <a:pt x="0" y="0"/>
                </a:moveTo>
                <a:lnTo>
                  <a:pt x="8515834" y="0"/>
                </a:lnTo>
                <a:lnTo>
                  <a:pt x="8515834" y="5865281"/>
                </a:lnTo>
                <a:lnTo>
                  <a:pt x="0" y="5865281"/>
                </a:lnTo>
                <a:lnTo>
                  <a:pt x="0" y="0"/>
                </a:lnTo>
                <a:close/>
              </a:path>
            </a:pathLst>
          </a:custGeom>
          <a:blipFill>
            <a:blip r:embed="rId7"/>
            <a:stretch>
              <a:fillRect/>
            </a:stretch>
          </a:blipFill>
        </p:spPr>
        <p:txBody>
          <a:bodyPr/>
          <a:lstStyle/>
          <a:p>
            <a:endParaRPr lang="en-NZ"/>
          </a:p>
        </p:txBody>
      </p:sp>
      <p:sp>
        <p:nvSpPr>
          <p:cNvPr id="7" name="TextBox 7"/>
          <p:cNvSpPr txBox="1"/>
          <p:nvPr/>
        </p:nvSpPr>
        <p:spPr>
          <a:xfrm>
            <a:off x="4376149" y="1795530"/>
            <a:ext cx="9535701" cy="1209674"/>
          </a:xfrm>
          <a:prstGeom prst="rect">
            <a:avLst/>
          </a:prstGeom>
        </p:spPr>
        <p:txBody>
          <a:bodyPr lIns="0" tIns="0" rIns="0" bIns="0" rtlCol="0" anchor="t">
            <a:spAutoFit/>
          </a:bodyPr>
          <a:lstStyle/>
          <a:p>
            <a:pPr algn="l">
              <a:lnSpc>
                <a:spcPts val="8400"/>
              </a:lnSpc>
            </a:pPr>
            <a:r>
              <a:rPr lang="en-US" sz="6000" b="1">
                <a:solidFill>
                  <a:srgbClr val="343434"/>
                </a:solidFill>
                <a:latin typeface="Cooper Hewitt Bold"/>
                <a:ea typeface="Cooper Hewitt Bold"/>
                <a:cs typeface="Cooper Hewitt Bold"/>
                <a:sym typeface="Cooper Hewitt Bold"/>
              </a:rPr>
              <a:t>CURRENT</a:t>
            </a:r>
            <a:r>
              <a:rPr lang="en-US" sz="6000">
                <a:solidFill>
                  <a:srgbClr val="343434"/>
                </a:solidFill>
                <a:latin typeface="Cooper Hewitt"/>
                <a:ea typeface="Cooper Hewitt"/>
                <a:cs typeface="Cooper Hewitt"/>
                <a:sym typeface="Cooper Hewitt"/>
              </a:rPr>
              <a:t> IMPLEMENTATION</a:t>
            </a:r>
          </a:p>
        </p:txBody>
      </p:sp>
      <p:sp>
        <p:nvSpPr>
          <p:cNvPr id="8" name="TextBox 8"/>
          <p:cNvSpPr txBox="1"/>
          <p:nvPr/>
        </p:nvSpPr>
        <p:spPr>
          <a:xfrm>
            <a:off x="16253563" y="8953500"/>
            <a:ext cx="1005737" cy="304800"/>
          </a:xfrm>
          <a:prstGeom prst="rect">
            <a:avLst/>
          </a:prstGeom>
        </p:spPr>
        <p:txBody>
          <a:bodyPr lIns="0" tIns="0" rIns="0" bIns="0" rtlCol="0" anchor="t">
            <a:spAutoFit/>
          </a:bodyPr>
          <a:lstStyle/>
          <a:p>
            <a:pPr algn="r">
              <a:lnSpc>
                <a:spcPts val="2100"/>
              </a:lnSpc>
            </a:pPr>
            <a:r>
              <a:rPr lang="en-US" sz="1500" b="1">
                <a:solidFill>
                  <a:srgbClr val="343434"/>
                </a:solidFill>
                <a:latin typeface="Cooper Hewitt Bold"/>
                <a:ea typeface="Cooper Hewitt Bold"/>
                <a:cs typeface="Cooper Hewitt Bold"/>
                <a:sym typeface="Cooper Hewitt Bold"/>
              </a:rPr>
              <a:t>Page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485035" y="-4485535"/>
            <a:ext cx="19258069" cy="19258069"/>
          </a:xfrm>
          <a:custGeom>
            <a:avLst/>
            <a:gdLst/>
            <a:ahLst/>
            <a:cxnLst/>
            <a:rect l="l" t="t" r="r" b="b"/>
            <a:pathLst>
              <a:path w="19258069" h="19258069">
                <a:moveTo>
                  <a:pt x="0" y="0"/>
                </a:moveTo>
                <a:lnTo>
                  <a:pt x="19258070" y="0"/>
                </a:lnTo>
                <a:lnTo>
                  <a:pt x="19258070" y="19258070"/>
                </a:lnTo>
                <a:lnTo>
                  <a:pt x="0" y="19258070"/>
                </a:lnTo>
                <a:lnTo>
                  <a:pt x="0" y="0"/>
                </a:lnTo>
                <a:close/>
              </a:path>
            </a:pathLst>
          </a:custGeom>
          <a:blipFill>
            <a:blip r:embed="rId5">
              <a:alphaModFix amt="4000"/>
              <a:extLst>
                <a:ext uri="{96DAC541-7B7A-43D3-8B79-37D633B846F1}">
                  <asvg:svgBlip xmlns:asvg="http://schemas.microsoft.com/office/drawing/2016/SVG/main" r:embed="rId6"/>
                </a:ext>
              </a:extLst>
            </a:blip>
            <a:stretch>
              <a:fillRect/>
            </a:stretch>
          </a:blipFill>
        </p:spPr>
        <p:txBody>
          <a:bodyPr/>
          <a:lstStyle/>
          <a:p>
            <a:endParaRPr lang="en-NZ"/>
          </a:p>
        </p:txBody>
      </p:sp>
      <p:grpSp>
        <p:nvGrpSpPr>
          <p:cNvPr id="3" name="Group 3"/>
          <p:cNvGrpSpPr/>
          <p:nvPr/>
        </p:nvGrpSpPr>
        <p:grpSpPr>
          <a:xfrm>
            <a:off x="1028700" y="1028700"/>
            <a:ext cx="852555" cy="852555"/>
            <a:chOff x="0" y="0"/>
            <a:chExt cx="1136740" cy="1136740"/>
          </a:xfrm>
        </p:grpSpPr>
        <p:sp>
          <p:nvSpPr>
            <p:cNvPr id="4" name="Freeform 4"/>
            <p:cNvSpPr/>
            <p:nvPr/>
          </p:nvSpPr>
          <p:spPr>
            <a:xfrm>
              <a:off x="0" y="0"/>
              <a:ext cx="1136740" cy="1136740"/>
            </a:xfrm>
            <a:custGeom>
              <a:avLst/>
              <a:gdLst/>
              <a:ahLst/>
              <a:cxnLst/>
              <a:rect l="l" t="t" r="r" b="b"/>
              <a:pathLst>
                <a:path w="1136740" h="1136740">
                  <a:moveTo>
                    <a:pt x="0" y="0"/>
                  </a:moveTo>
                  <a:lnTo>
                    <a:pt x="1136740" y="0"/>
                  </a:lnTo>
                  <a:lnTo>
                    <a:pt x="1136740" y="1136740"/>
                  </a:lnTo>
                  <a:lnTo>
                    <a:pt x="0" y="113674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NZ"/>
            </a:p>
          </p:txBody>
        </p:sp>
        <p:sp>
          <p:nvSpPr>
            <p:cNvPr id="5" name="TextBox 5"/>
            <p:cNvSpPr txBox="1"/>
            <p:nvPr/>
          </p:nvSpPr>
          <p:spPr>
            <a:xfrm>
              <a:off x="332697" y="488378"/>
              <a:ext cx="488373" cy="203562"/>
            </a:xfrm>
            <a:prstGeom prst="rect">
              <a:avLst/>
            </a:prstGeom>
          </p:spPr>
          <p:txBody>
            <a:bodyPr lIns="0" tIns="0" rIns="0" bIns="0" rtlCol="0" anchor="t">
              <a:spAutoFit/>
            </a:bodyPr>
            <a:lstStyle/>
            <a:p>
              <a:pPr algn="ctr">
                <a:lnSpc>
                  <a:spcPts val="1077"/>
                </a:lnSpc>
              </a:pPr>
              <a:r>
                <a:rPr lang="en-US" sz="1066" spc="-65">
                  <a:solidFill>
                    <a:srgbClr val="343434"/>
                  </a:solidFill>
                  <a:latin typeface="Mokoto Glitch 2"/>
                  <a:ea typeface="Mokoto Glitch 2"/>
                  <a:cs typeface="Mokoto Glitch 2"/>
                  <a:sym typeface="Mokoto Glitch 2"/>
                </a:rPr>
                <a:t>#43</a:t>
              </a:r>
            </a:p>
          </p:txBody>
        </p:sp>
      </p:grpSp>
      <p:pic>
        <p:nvPicPr>
          <p:cNvPr id="6" name="Picture 6">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9"/>
          <a:srcRect/>
          <a:stretch>
            <a:fillRect/>
          </a:stretch>
        </p:blipFill>
        <p:spPr>
          <a:xfrm>
            <a:off x="2805445" y="3184958"/>
            <a:ext cx="12677110" cy="3917085"/>
          </a:xfrm>
          <a:prstGeom prst="rect">
            <a:avLst/>
          </a:prstGeom>
        </p:spPr>
      </p:pic>
      <p:sp>
        <p:nvSpPr>
          <p:cNvPr id="7" name="Freeform 7"/>
          <p:cNvSpPr/>
          <p:nvPr/>
        </p:nvSpPr>
        <p:spPr>
          <a:xfrm>
            <a:off x="2805445" y="7706219"/>
            <a:ext cx="2971040" cy="1524819"/>
          </a:xfrm>
          <a:custGeom>
            <a:avLst/>
            <a:gdLst/>
            <a:ahLst/>
            <a:cxnLst/>
            <a:rect l="l" t="t" r="r" b="b"/>
            <a:pathLst>
              <a:path w="2971040" h="1524819">
                <a:moveTo>
                  <a:pt x="0" y="0"/>
                </a:moveTo>
                <a:lnTo>
                  <a:pt x="2971039" y="0"/>
                </a:lnTo>
                <a:lnTo>
                  <a:pt x="2971039" y="1524820"/>
                </a:lnTo>
                <a:lnTo>
                  <a:pt x="0" y="1524820"/>
                </a:lnTo>
                <a:lnTo>
                  <a:pt x="0" y="0"/>
                </a:lnTo>
                <a:close/>
              </a:path>
            </a:pathLst>
          </a:custGeom>
          <a:blipFill>
            <a:blip r:embed="rId10"/>
            <a:stretch>
              <a:fillRect/>
            </a:stretch>
          </a:blipFill>
        </p:spPr>
        <p:txBody>
          <a:bodyPr/>
          <a:lstStyle/>
          <a:p>
            <a:endParaRPr lang="en-NZ"/>
          </a:p>
        </p:txBody>
      </p:sp>
      <p:sp>
        <p:nvSpPr>
          <p:cNvPr id="8" name="Freeform 8"/>
          <p:cNvSpPr/>
          <p:nvPr/>
        </p:nvSpPr>
        <p:spPr>
          <a:xfrm>
            <a:off x="6989439" y="7678958"/>
            <a:ext cx="2971040" cy="1579342"/>
          </a:xfrm>
          <a:custGeom>
            <a:avLst/>
            <a:gdLst/>
            <a:ahLst/>
            <a:cxnLst/>
            <a:rect l="l" t="t" r="r" b="b"/>
            <a:pathLst>
              <a:path w="2971040" h="1579342">
                <a:moveTo>
                  <a:pt x="0" y="0"/>
                </a:moveTo>
                <a:lnTo>
                  <a:pt x="2971039" y="0"/>
                </a:lnTo>
                <a:lnTo>
                  <a:pt x="2971039" y="1579342"/>
                </a:lnTo>
                <a:lnTo>
                  <a:pt x="0" y="1579342"/>
                </a:lnTo>
                <a:lnTo>
                  <a:pt x="0" y="0"/>
                </a:lnTo>
                <a:close/>
              </a:path>
            </a:pathLst>
          </a:custGeom>
          <a:blipFill>
            <a:blip r:embed="rId11"/>
            <a:stretch>
              <a:fillRect/>
            </a:stretch>
          </a:blipFill>
        </p:spPr>
        <p:txBody>
          <a:bodyPr/>
          <a:lstStyle/>
          <a:p>
            <a:endParaRPr lang="en-NZ"/>
          </a:p>
        </p:txBody>
      </p:sp>
      <p:sp>
        <p:nvSpPr>
          <p:cNvPr id="9" name="Freeform 9"/>
          <p:cNvSpPr/>
          <p:nvPr/>
        </p:nvSpPr>
        <p:spPr>
          <a:xfrm>
            <a:off x="11084172" y="7651697"/>
            <a:ext cx="4398383" cy="1579342"/>
          </a:xfrm>
          <a:custGeom>
            <a:avLst/>
            <a:gdLst/>
            <a:ahLst/>
            <a:cxnLst/>
            <a:rect l="l" t="t" r="r" b="b"/>
            <a:pathLst>
              <a:path w="4398383" h="1579342">
                <a:moveTo>
                  <a:pt x="0" y="0"/>
                </a:moveTo>
                <a:lnTo>
                  <a:pt x="4398383" y="0"/>
                </a:lnTo>
                <a:lnTo>
                  <a:pt x="4398383" y="1579342"/>
                </a:lnTo>
                <a:lnTo>
                  <a:pt x="0" y="1579342"/>
                </a:lnTo>
                <a:lnTo>
                  <a:pt x="0" y="0"/>
                </a:lnTo>
                <a:close/>
              </a:path>
            </a:pathLst>
          </a:custGeom>
          <a:blipFill>
            <a:blip r:embed="rId12"/>
            <a:stretch>
              <a:fillRect/>
            </a:stretch>
          </a:blipFill>
        </p:spPr>
        <p:txBody>
          <a:bodyPr/>
          <a:lstStyle/>
          <a:p>
            <a:endParaRPr lang="en-NZ"/>
          </a:p>
        </p:txBody>
      </p:sp>
      <p:sp>
        <p:nvSpPr>
          <p:cNvPr id="10" name="TextBox 10"/>
          <p:cNvSpPr txBox="1"/>
          <p:nvPr/>
        </p:nvSpPr>
        <p:spPr>
          <a:xfrm>
            <a:off x="4376149" y="1795530"/>
            <a:ext cx="9535701" cy="1209674"/>
          </a:xfrm>
          <a:prstGeom prst="rect">
            <a:avLst/>
          </a:prstGeom>
        </p:spPr>
        <p:txBody>
          <a:bodyPr lIns="0" tIns="0" rIns="0" bIns="0" rtlCol="0" anchor="t">
            <a:spAutoFit/>
          </a:bodyPr>
          <a:lstStyle/>
          <a:p>
            <a:pPr algn="l">
              <a:lnSpc>
                <a:spcPts val="8400"/>
              </a:lnSpc>
            </a:pPr>
            <a:r>
              <a:rPr lang="en-US" sz="6000" b="1">
                <a:solidFill>
                  <a:srgbClr val="343434"/>
                </a:solidFill>
                <a:latin typeface="Cooper Hewitt Bold"/>
                <a:ea typeface="Cooper Hewitt Bold"/>
                <a:cs typeface="Cooper Hewitt Bold"/>
                <a:sym typeface="Cooper Hewitt Bold"/>
              </a:rPr>
              <a:t>CURRENT</a:t>
            </a:r>
            <a:r>
              <a:rPr lang="en-US" sz="6000">
                <a:solidFill>
                  <a:srgbClr val="343434"/>
                </a:solidFill>
                <a:latin typeface="Cooper Hewitt"/>
                <a:ea typeface="Cooper Hewitt"/>
                <a:cs typeface="Cooper Hewitt"/>
                <a:sym typeface="Cooper Hewitt"/>
              </a:rPr>
              <a:t> IMPLEMENTATION</a:t>
            </a:r>
          </a:p>
        </p:txBody>
      </p:sp>
      <p:sp>
        <p:nvSpPr>
          <p:cNvPr id="11" name="TextBox 11"/>
          <p:cNvSpPr txBox="1"/>
          <p:nvPr/>
        </p:nvSpPr>
        <p:spPr>
          <a:xfrm>
            <a:off x="16253563" y="8953500"/>
            <a:ext cx="1005737" cy="304800"/>
          </a:xfrm>
          <a:prstGeom prst="rect">
            <a:avLst/>
          </a:prstGeom>
        </p:spPr>
        <p:txBody>
          <a:bodyPr lIns="0" tIns="0" rIns="0" bIns="0" rtlCol="0" anchor="t">
            <a:spAutoFit/>
          </a:bodyPr>
          <a:lstStyle/>
          <a:p>
            <a:pPr algn="r">
              <a:lnSpc>
                <a:spcPts val="2100"/>
              </a:lnSpc>
            </a:pPr>
            <a:r>
              <a:rPr lang="en-US" sz="1500" b="1">
                <a:solidFill>
                  <a:srgbClr val="343434"/>
                </a:solidFill>
                <a:latin typeface="Cooper Hewitt Bold"/>
                <a:ea typeface="Cooper Hewitt Bold"/>
                <a:cs typeface="Cooper Hewitt Bold"/>
                <a:sym typeface="Cooper Hewitt Bold"/>
              </a:rPr>
              <a:t>Page 07</a:t>
            </a:r>
          </a:p>
        </p:txBody>
      </p:sp>
      <p:sp>
        <p:nvSpPr>
          <p:cNvPr id="12" name="TextBox 12"/>
          <p:cNvSpPr txBox="1"/>
          <p:nvPr/>
        </p:nvSpPr>
        <p:spPr>
          <a:xfrm>
            <a:off x="5945417" y="7997571"/>
            <a:ext cx="875089" cy="1146429"/>
          </a:xfrm>
          <a:prstGeom prst="rect">
            <a:avLst/>
          </a:prstGeom>
        </p:spPr>
        <p:txBody>
          <a:bodyPr lIns="0" tIns="0" rIns="0" bIns="0" rtlCol="0" anchor="t">
            <a:spAutoFit/>
          </a:bodyPr>
          <a:lstStyle/>
          <a:p>
            <a:pPr algn="ctr">
              <a:lnSpc>
                <a:spcPts val="9288"/>
              </a:lnSpc>
              <a:spcBef>
                <a:spcPct val="0"/>
              </a:spcBef>
            </a:pPr>
            <a:r>
              <a:rPr lang="en-US" sz="7200" spc="-395">
                <a:solidFill>
                  <a:srgbClr val="343434"/>
                </a:solidFill>
                <a:latin typeface="DM Sans"/>
                <a:ea typeface="DM Sans"/>
                <a:cs typeface="DM Sans"/>
                <a:sym typeface="DM Sans"/>
              </a:rPr>
              <a:t>X</a:t>
            </a:r>
          </a:p>
        </p:txBody>
      </p:sp>
      <p:sp>
        <p:nvSpPr>
          <p:cNvPr id="13" name="TextBox 13"/>
          <p:cNvSpPr txBox="1"/>
          <p:nvPr/>
        </p:nvSpPr>
        <p:spPr>
          <a:xfrm>
            <a:off x="10131928" y="7997571"/>
            <a:ext cx="875089" cy="1146429"/>
          </a:xfrm>
          <a:prstGeom prst="rect">
            <a:avLst/>
          </a:prstGeom>
        </p:spPr>
        <p:txBody>
          <a:bodyPr lIns="0" tIns="0" rIns="0" bIns="0" rtlCol="0" anchor="t">
            <a:spAutoFit/>
          </a:bodyPr>
          <a:lstStyle/>
          <a:p>
            <a:pPr algn="ctr">
              <a:lnSpc>
                <a:spcPts val="9288"/>
              </a:lnSpc>
              <a:spcBef>
                <a:spcPct val="0"/>
              </a:spcBef>
            </a:pPr>
            <a:r>
              <a:rPr lang="en-US" sz="7200" spc="-395">
                <a:solidFill>
                  <a:srgbClr val="343434"/>
                </a:solidFill>
                <a:latin typeface="DM Sans"/>
                <a:ea typeface="DM Sans"/>
                <a:cs typeface="DM Sans"/>
                <a:sym typeface="DM Sans"/>
              </a:rPr>
              <a:t>=</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6"/>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485035" y="-4485535"/>
            <a:ext cx="19258069" cy="19258069"/>
          </a:xfrm>
          <a:custGeom>
            <a:avLst/>
            <a:gdLst/>
            <a:ahLst/>
            <a:cxnLst/>
            <a:rect l="l" t="t" r="r" b="b"/>
            <a:pathLst>
              <a:path w="19258069" h="19258069">
                <a:moveTo>
                  <a:pt x="0" y="0"/>
                </a:moveTo>
                <a:lnTo>
                  <a:pt x="19258070" y="0"/>
                </a:lnTo>
                <a:lnTo>
                  <a:pt x="19258070" y="19258070"/>
                </a:lnTo>
                <a:lnTo>
                  <a:pt x="0" y="19258070"/>
                </a:lnTo>
                <a:lnTo>
                  <a:pt x="0" y="0"/>
                </a:lnTo>
                <a:close/>
              </a:path>
            </a:pathLst>
          </a:custGeom>
          <a:blipFill>
            <a:blip r:embed="rId3">
              <a:alphaModFix amt="4000"/>
              <a:extLst>
                <a:ext uri="{96DAC541-7B7A-43D3-8B79-37D633B846F1}">
                  <asvg:svgBlip xmlns:asvg="http://schemas.microsoft.com/office/drawing/2016/SVG/main" r:embed="rId4"/>
                </a:ext>
              </a:extLst>
            </a:blip>
            <a:stretch>
              <a:fillRect/>
            </a:stretch>
          </a:blipFill>
        </p:spPr>
        <p:txBody>
          <a:bodyPr/>
          <a:lstStyle/>
          <a:p>
            <a:endParaRPr lang="en-NZ"/>
          </a:p>
        </p:txBody>
      </p:sp>
      <p:grpSp>
        <p:nvGrpSpPr>
          <p:cNvPr id="3" name="Group 3"/>
          <p:cNvGrpSpPr/>
          <p:nvPr/>
        </p:nvGrpSpPr>
        <p:grpSpPr>
          <a:xfrm>
            <a:off x="1028700" y="1028700"/>
            <a:ext cx="852555" cy="852555"/>
            <a:chOff x="0" y="0"/>
            <a:chExt cx="1136740" cy="1136740"/>
          </a:xfrm>
        </p:grpSpPr>
        <p:sp>
          <p:nvSpPr>
            <p:cNvPr id="4" name="Freeform 4"/>
            <p:cNvSpPr/>
            <p:nvPr/>
          </p:nvSpPr>
          <p:spPr>
            <a:xfrm>
              <a:off x="0" y="0"/>
              <a:ext cx="1136740" cy="1136740"/>
            </a:xfrm>
            <a:custGeom>
              <a:avLst/>
              <a:gdLst/>
              <a:ahLst/>
              <a:cxnLst/>
              <a:rect l="l" t="t" r="r" b="b"/>
              <a:pathLst>
                <a:path w="1136740" h="1136740">
                  <a:moveTo>
                    <a:pt x="0" y="0"/>
                  </a:moveTo>
                  <a:lnTo>
                    <a:pt x="1136740" y="0"/>
                  </a:lnTo>
                  <a:lnTo>
                    <a:pt x="1136740" y="1136740"/>
                  </a:lnTo>
                  <a:lnTo>
                    <a:pt x="0" y="11367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5" name="TextBox 5"/>
            <p:cNvSpPr txBox="1"/>
            <p:nvPr/>
          </p:nvSpPr>
          <p:spPr>
            <a:xfrm>
              <a:off x="332697" y="488378"/>
              <a:ext cx="488373" cy="203562"/>
            </a:xfrm>
            <a:prstGeom prst="rect">
              <a:avLst/>
            </a:prstGeom>
          </p:spPr>
          <p:txBody>
            <a:bodyPr lIns="0" tIns="0" rIns="0" bIns="0" rtlCol="0" anchor="t">
              <a:spAutoFit/>
            </a:bodyPr>
            <a:lstStyle/>
            <a:p>
              <a:pPr algn="ctr">
                <a:lnSpc>
                  <a:spcPts val="1077"/>
                </a:lnSpc>
              </a:pPr>
              <a:r>
                <a:rPr lang="en-US" sz="1066" spc="-65">
                  <a:solidFill>
                    <a:srgbClr val="343434"/>
                  </a:solidFill>
                  <a:latin typeface="Mokoto Glitch 2"/>
                  <a:ea typeface="Mokoto Glitch 2"/>
                  <a:cs typeface="Mokoto Glitch 2"/>
                  <a:sym typeface="Mokoto Glitch 2"/>
                </a:rPr>
                <a:t>#43</a:t>
              </a:r>
            </a:p>
          </p:txBody>
        </p:sp>
      </p:grpSp>
      <p:sp>
        <p:nvSpPr>
          <p:cNvPr id="6" name="TextBox 6"/>
          <p:cNvSpPr txBox="1"/>
          <p:nvPr/>
        </p:nvSpPr>
        <p:spPr>
          <a:xfrm>
            <a:off x="4376149" y="1775823"/>
            <a:ext cx="9535701" cy="1209674"/>
          </a:xfrm>
          <a:prstGeom prst="rect">
            <a:avLst/>
          </a:prstGeom>
        </p:spPr>
        <p:txBody>
          <a:bodyPr lIns="0" tIns="0" rIns="0" bIns="0" rtlCol="0" anchor="t">
            <a:spAutoFit/>
          </a:bodyPr>
          <a:lstStyle/>
          <a:p>
            <a:pPr algn="l">
              <a:lnSpc>
                <a:spcPts val="8400"/>
              </a:lnSpc>
            </a:pPr>
            <a:r>
              <a:rPr lang="en-US" sz="6000" b="1">
                <a:solidFill>
                  <a:srgbClr val="343434"/>
                </a:solidFill>
                <a:latin typeface="Cooper Hewitt Bold"/>
                <a:ea typeface="Cooper Hewitt Bold"/>
                <a:cs typeface="Cooper Hewitt Bold"/>
                <a:sym typeface="Cooper Hewitt Bold"/>
              </a:rPr>
              <a:t>FUTURE</a:t>
            </a:r>
            <a:r>
              <a:rPr lang="en-US" sz="6000">
                <a:solidFill>
                  <a:srgbClr val="343434"/>
                </a:solidFill>
                <a:latin typeface="Cooper Hewitt"/>
                <a:ea typeface="Cooper Hewitt"/>
                <a:cs typeface="Cooper Hewitt"/>
                <a:sym typeface="Cooper Hewitt"/>
              </a:rPr>
              <a:t> IMPLEMENTATION</a:t>
            </a:r>
          </a:p>
        </p:txBody>
      </p:sp>
      <p:sp>
        <p:nvSpPr>
          <p:cNvPr id="7" name="TextBox 7"/>
          <p:cNvSpPr txBox="1"/>
          <p:nvPr/>
        </p:nvSpPr>
        <p:spPr>
          <a:xfrm>
            <a:off x="16253563" y="8953500"/>
            <a:ext cx="1005737" cy="304800"/>
          </a:xfrm>
          <a:prstGeom prst="rect">
            <a:avLst/>
          </a:prstGeom>
        </p:spPr>
        <p:txBody>
          <a:bodyPr lIns="0" tIns="0" rIns="0" bIns="0" rtlCol="0" anchor="t">
            <a:spAutoFit/>
          </a:bodyPr>
          <a:lstStyle/>
          <a:p>
            <a:pPr algn="r">
              <a:lnSpc>
                <a:spcPts val="2100"/>
              </a:lnSpc>
            </a:pPr>
            <a:r>
              <a:rPr lang="en-US" sz="1500" b="1">
                <a:solidFill>
                  <a:srgbClr val="343434"/>
                </a:solidFill>
                <a:latin typeface="Cooper Hewitt Bold"/>
                <a:ea typeface="Cooper Hewitt Bold"/>
                <a:cs typeface="Cooper Hewitt Bold"/>
                <a:sym typeface="Cooper Hewitt Bold"/>
              </a:rPr>
              <a:t>Page 08</a:t>
            </a:r>
          </a:p>
        </p:txBody>
      </p:sp>
      <p:sp>
        <p:nvSpPr>
          <p:cNvPr id="8" name="TextBox 8"/>
          <p:cNvSpPr txBox="1"/>
          <p:nvPr/>
        </p:nvSpPr>
        <p:spPr>
          <a:xfrm>
            <a:off x="3051936" y="5373749"/>
            <a:ext cx="2745558" cy="349250"/>
          </a:xfrm>
          <a:prstGeom prst="rect">
            <a:avLst/>
          </a:prstGeom>
        </p:spPr>
        <p:txBody>
          <a:bodyPr lIns="0" tIns="0" rIns="0" bIns="0" rtlCol="0" anchor="t">
            <a:spAutoFit/>
          </a:bodyPr>
          <a:lstStyle/>
          <a:p>
            <a:pPr algn="ctr">
              <a:lnSpc>
                <a:spcPts val="2800"/>
              </a:lnSpc>
            </a:pPr>
            <a:r>
              <a:rPr lang="en-US" sz="2000" b="1">
                <a:solidFill>
                  <a:srgbClr val="343434"/>
                </a:solidFill>
                <a:latin typeface="DM Sans Bold"/>
                <a:ea typeface="DM Sans Bold"/>
                <a:cs typeface="DM Sans Bold"/>
                <a:sym typeface="DM Sans Bold"/>
              </a:rPr>
              <a:t>NIOS II CONTROL UNIT</a:t>
            </a:r>
          </a:p>
        </p:txBody>
      </p:sp>
      <p:sp>
        <p:nvSpPr>
          <p:cNvPr id="9" name="TextBox 9"/>
          <p:cNvSpPr txBox="1"/>
          <p:nvPr/>
        </p:nvSpPr>
        <p:spPr>
          <a:xfrm>
            <a:off x="7116633" y="5859092"/>
            <a:ext cx="4054734" cy="1214120"/>
          </a:xfrm>
          <a:prstGeom prst="rect">
            <a:avLst/>
          </a:prstGeom>
        </p:spPr>
        <p:txBody>
          <a:bodyPr lIns="0" tIns="0" rIns="0" bIns="0" rtlCol="0" anchor="t">
            <a:spAutoFit/>
          </a:bodyPr>
          <a:lstStyle/>
          <a:p>
            <a:pPr marL="367031" lvl="1" indent="-183515" algn="just">
              <a:lnSpc>
                <a:spcPts val="2380"/>
              </a:lnSpc>
              <a:buFont typeface="Arial"/>
              <a:buChar char="•"/>
            </a:pPr>
            <a:r>
              <a:rPr lang="en-US" sz="1700">
                <a:solidFill>
                  <a:srgbClr val="343434"/>
                </a:solidFill>
                <a:latin typeface="Cooper Hewitt"/>
                <a:ea typeface="Cooper Hewitt"/>
                <a:cs typeface="Cooper Hewitt"/>
                <a:sym typeface="Cooper Hewitt"/>
              </a:rPr>
              <a:t>DMA controller to reduce NIOS  II overhead</a:t>
            </a:r>
          </a:p>
          <a:p>
            <a:pPr marL="367031" lvl="1" indent="-183515" algn="just">
              <a:lnSpc>
                <a:spcPts val="2380"/>
              </a:lnSpc>
              <a:buFont typeface="Arial"/>
              <a:buChar char="•"/>
            </a:pPr>
            <a:r>
              <a:rPr lang="en-US" sz="1700">
                <a:solidFill>
                  <a:srgbClr val="343434"/>
                </a:solidFill>
                <a:latin typeface="Cooper Hewitt"/>
                <a:ea typeface="Cooper Hewitt"/>
                <a:cs typeface="Cooper Hewitt"/>
                <a:sym typeface="Cooper Hewitt"/>
              </a:rPr>
              <a:t>Better for transferring between memory and hardware accelerator</a:t>
            </a:r>
          </a:p>
        </p:txBody>
      </p:sp>
      <p:sp>
        <p:nvSpPr>
          <p:cNvPr id="10" name="TextBox 10"/>
          <p:cNvSpPr txBox="1"/>
          <p:nvPr/>
        </p:nvSpPr>
        <p:spPr>
          <a:xfrm>
            <a:off x="11913795" y="5373749"/>
            <a:ext cx="3503329" cy="349250"/>
          </a:xfrm>
          <a:prstGeom prst="rect">
            <a:avLst/>
          </a:prstGeom>
        </p:spPr>
        <p:txBody>
          <a:bodyPr lIns="0" tIns="0" rIns="0" bIns="0" rtlCol="0" anchor="t">
            <a:spAutoFit/>
          </a:bodyPr>
          <a:lstStyle/>
          <a:p>
            <a:pPr marL="0" lvl="0" indent="0" algn="ctr">
              <a:lnSpc>
                <a:spcPts val="2800"/>
              </a:lnSpc>
              <a:spcBef>
                <a:spcPct val="0"/>
              </a:spcBef>
            </a:pPr>
            <a:r>
              <a:rPr lang="en-US" sz="2000" b="1">
                <a:solidFill>
                  <a:srgbClr val="343434"/>
                </a:solidFill>
                <a:latin typeface="DM Sans Bold"/>
                <a:ea typeface="DM Sans Bold"/>
                <a:cs typeface="DM Sans Bold"/>
                <a:sym typeface="DM Sans Bold"/>
              </a:rPr>
              <a:t>SPARSE MATRIX HANDLER</a:t>
            </a:r>
          </a:p>
        </p:txBody>
      </p:sp>
      <p:sp>
        <p:nvSpPr>
          <p:cNvPr id="11" name="TextBox 11"/>
          <p:cNvSpPr txBox="1"/>
          <p:nvPr/>
        </p:nvSpPr>
        <p:spPr>
          <a:xfrm>
            <a:off x="11638092" y="5859092"/>
            <a:ext cx="4054734" cy="1804670"/>
          </a:xfrm>
          <a:prstGeom prst="rect">
            <a:avLst/>
          </a:prstGeom>
        </p:spPr>
        <p:txBody>
          <a:bodyPr lIns="0" tIns="0" rIns="0" bIns="0" rtlCol="0" anchor="t">
            <a:spAutoFit/>
          </a:bodyPr>
          <a:lstStyle/>
          <a:p>
            <a:pPr marL="367031" lvl="1" indent="-183515" algn="just">
              <a:lnSpc>
                <a:spcPts val="2380"/>
              </a:lnSpc>
              <a:buFont typeface="Arial"/>
              <a:buChar char="•"/>
            </a:pPr>
            <a:r>
              <a:rPr lang="en-US" sz="1700">
                <a:solidFill>
                  <a:srgbClr val="343434"/>
                </a:solidFill>
                <a:latin typeface="Cooper Hewitt"/>
                <a:ea typeface="Cooper Hewitt"/>
                <a:cs typeface="Cooper Hewitt"/>
                <a:sym typeface="Cooper Hewitt"/>
              </a:rPr>
              <a:t>System needs to accommodate for sparsity exploitation</a:t>
            </a:r>
          </a:p>
          <a:p>
            <a:pPr marL="367031" lvl="1" indent="-183515" algn="just">
              <a:lnSpc>
                <a:spcPts val="2380"/>
              </a:lnSpc>
              <a:buFont typeface="Arial"/>
              <a:buChar char="•"/>
            </a:pPr>
            <a:r>
              <a:rPr lang="en-US" sz="1700">
                <a:solidFill>
                  <a:srgbClr val="343434"/>
                </a:solidFill>
                <a:latin typeface="Cooper Hewitt"/>
                <a:ea typeface="Cooper Hewitt"/>
                <a:cs typeface="Cooper Hewitt"/>
                <a:sym typeface="Cooper Hewitt"/>
              </a:rPr>
              <a:t>Pruning can be applied at pre-processing stage</a:t>
            </a:r>
          </a:p>
          <a:p>
            <a:pPr marL="367031" lvl="1" indent="-183515" algn="just">
              <a:lnSpc>
                <a:spcPts val="2380"/>
              </a:lnSpc>
              <a:buFont typeface="Arial"/>
              <a:buChar char="•"/>
            </a:pPr>
            <a:r>
              <a:rPr lang="en-US" sz="1700">
                <a:solidFill>
                  <a:srgbClr val="343434"/>
                </a:solidFill>
                <a:latin typeface="Cooper Hewitt"/>
                <a:ea typeface="Cooper Hewitt"/>
                <a:cs typeface="Cooper Hewitt"/>
                <a:sym typeface="Cooper Hewitt"/>
              </a:rPr>
              <a:t>Eliminate the zeroes and compress matrix with non-zero elements </a:t>
            </a:r>
          </a:p>
        </p:txBody>
      </p:sp>
      <p:sp>
        <p:nvSpPr>
          <p:cNvPr id="12" name="TextBox 12"/>
          <p:cNvSpPr txBox="1"/>
          <p:nvPr/>
        </p:nvSpPr>
        <p:spPr>
          <a:xfrm>
            <a:off x="7938500" y="5373749"/>
            <a:ext cx="2263867" cy="349190"/>
          </a:xfrm>
          <a:prstGeom prst="rect">
            <a:avLst/>
          </a:prstGeom>
        </p:spPr>
        <p:txBody>
          <a:bodyPr lIns="0" tIns="0" rIns="0" bIns="0" rtlCol="0" anchor="t">
            <a:spAutoFit/>
          </a:bodyPr>
          <a:lstStyle/>
          <a:p>
            <a:pPr marL="0" lvl="0" indent="0" algn="ctr">
              <a:lnSpc>
                <a:spcPts val="2800"/>
              </a:lnSpc>
              <a:spcBef>
                <a:spcPct val="0"/>
              </a:spcBef>
            </a:pPr>
            <a:r>
              <a:rPr lang="en-US" sz="2000" b="1">
                <a:solidFill>
                  <a:srgbClr val="343434"/>
                </a:solidFill>
                <a:latin typeface="DM Sans Bold"/>
                <a:ea typeface="DM Sans Bold"/>
                <a:cs typeface="DM Sans Bold"/>
                <a:sym typeface="DM Sans Bold"/>
              </a:rPr>
              <a:t>MEMORY</a:t>
            </a:r>
          </a:p>
        </p:txBody>
      </p:sp>
      <p:sp>
        <p:nvSpPr>
          <p:cNvPr id="13" name="TextBox 13"/>
          <p:cNvSpPr txBox="1"/>
          <p:nvPr/>
        </p:nvSpPr>
        <p:spPr>
          <a:xfrm>
            <a:off x="2102911" y="5859092"/>
            <a:ext cx="4546477" cy="1804670"/>
          </a:xfrm>
          <a:prstGeom prst="rect">
            <a:avLst/>
          </a:prstGeom>
        </p:spPr>
        <p:txBody>
          <a:bodyPr lIns="0" tIns="0" rIns="0" bIns="0" rtlCol="0" anchor="t">
            <a:spAutoFit/>
          </a:bodyPr>
          <a:lstStyle/>
          <a:p>
            <a:pPr marL="367031" lvl="1" indent="-183515" algn="just">
              <a:lnSpc>
                <a:spcPts val="2380"/>
              </a:lnSpc>
              <a:buFont typeface="Arial"/>
              <a:buChar char="•"/>
            </a:pPr>
            <a:r>
              <a:rPr lang="en-US" sz="1700">
                <a:solidFill>
                  <a:srgbClr val="343434"/>
                </a:solidFill>
                <a:latin typeface="Cooper Hewitt"/>
                <a:ea typeface="Cooper Hewitt"/>
                <a:cs typeface="Cooper Hewitt"/>
                <a:sym typeface="Cooper Hewitt"/>
              </a:rPr>
              <a:t>Input/output movement coordination</a:t>
            </a:r>
          </a:p>
          <a:p>
            <a:pPr marL="367031" lvl="1" indent="-183515" algn="just">
              <a:lnSpc>
                <a:spcPts val="2380"/>
              </a:lnSpc>
              <a:buFont typeface="Arial"/>
              <a:buChar char="•"/>
            </a:pPr>
            <a:r>
              <a:rPr lang="en-US" sz="1700">
                <a:solidFill>
                  <a:srgbClr val="343434"/>
                </a:solidFill>
                <a:latin typeface="Cooper Hewitt"/>
                <a:ea typeface="Cooper Hewitt"/>
                <a:cs typeface="Cooper Hewitt"/>
                <a:sym typeface="Cooper Hewitt"/>
              </a:rPr>
              <a:t>Interface with the main accelerator</a:t>
            </a:r>
          </a:p>
          <a:p>
            <a:pPr marL="734061" lvl="2" indent="-244687" algn="just">
              <a:lnSpc>
                <a:spcPts val="2380"/>
              </a:lnSpc>
              <a:buFont typeface="Arial"/>
              <a:buChar char="⚬"/>
            </a:pPr>
            <a:r>
              <a:rPr lang="en-US" sz="1700">
                <a:solidFill>
                  <a:srgbClr val="343434"/>
                </a:solidFill>
                <a:latin typeface="Cooper Hewitt"/>
                <a:ea typeface="Cooper Hewitt"/>
                <a:cs typeface="Cooper Hewitt"/>
                <a:sym typeface="Cooper Hewitt"/>
              </a:rPr>
              <a:t>Loading matrices into shared memory</a:t>
            </a:r>
          </a:p>
          <a:p>
            <a:pPr marL="734061" lvl="2" indent="-244687" algn="just">
              <a:lnSpc>
                <a:spcPts val="2380"/>
              </a:lnSpc>
              <a:buFont typeface="Arial"/>
              <a:buChar char="⚬"/>
            </a:pPr>
            <a:r>
              <a:rPr lang="en-US" sz="1700">
                <a:solidFill>
                  <a:srgbClr val="343434"/>
                </a:solidFill>
                <a:latin typeface="Cooper Hewitt"/>
                <a:ea typeface="Cooper Hewitt"/>
                <a:cs typeface="Cooper Hewitt"/>
                <a:sym typeface="Cooper Hewitt"/>
              </a:rPr>
              <a:t>Programming the DMA</a:t>
            </a:r>
          </a:p>
          <a:p>
            <a:pPr marL="734061" lvl="2" indent="-244687" algn="just">
              <a:lnSpc>
                <a:spcPts val="2380"/>
              </a:lnSpc>
              <a:buFont typeface="Arial"/>
              <a:buChar char="⚬"/>
            </a:pPr>
            <a:r>
              <a:rPr lang="en-US" sz="1700">
                <a:solidFill>
                  <a:srgbClr val="343434"/>
                </a:solidFill>
                <a:latin typeface="Cooper Hewitt"/>
                <a:ea typeface="Cooper Hewitt"/>
                <a:cs typeface="Cooper Hewitt"/>
                <a:sym typeface="Cooper Hewitt"/>
              </a:rPr>
              <a:t>Handling the reconfigurability</a:t>
            </a:r>
          </a:p>
          <a:p>
            <a:pPr algn="just">
              <a:lnSpc>
                <a:spcPts val="2380"/>
              </a:lnSpc>
            </a:pPr>
            <a:r>
              <a:rPr lang="en-US" sz="1700">
                <a:solidFill>
                  <a:srgbClr val="343434"/>
                </a:solidFill>
                <a:latin typeface="Cooper Hewitt"/>
                <a:ea typeface="Cooper Hewitt"/>
                <a:cs typeface="Cooper Hewitt"/>
                <a:sym typeface="Cooper Hewitt"/>
              </a:rPr>
              <a:t>             parameters</a:t>
            </a:r>
          </a:p>
        </p:txBody>
      </p:sp>
      <p:sp>
        <p:nvSpPr>
          <p:cNvPr id="14" name="Freeform 14"/>
          <p:cNvSpPr/>
          <p:nvPr/>
        </p:nvSpPr>
        <p:spPr>
          <a:xfrm>
            <a:off x="3638315" y="4007501"/>
            <a:ext cx="1314694" cy="1314694"/>
          </a:xfrm>
          <a:custGeom>
            <a:avLst/>
            <a:gdLst/>
            <a:ahLst/>
            <a:cxnLst/>
            <a:rect l="l" t="t" r="r" b="b"/>
            <a:pathLst>
              <a:path w="1314694" h="1314694">
                <a:moveTo>
                  <a:pt x="0" y="0"/>
                </a:moveTo>
                <a:lnTo>
                  <a:pt x="1314694" y="0"/>
                </a:lnTo>
                <a:lnTo>
                  <a:pt x="1314694" y="1314693"/>
                </a:lnTo>
                <a:lnTo>
                  <a:pt x="0" y="1314693"/>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NZ"/>
          </a:p>
        </p:txBody>
      </p:sp>
      <p:sp>
        <p:nvSpPr>
          <p:cNvPr id="15" name="Freeform 15"/>
          <p:cNvSpPr/>
          <p:nvPr/>
        </p:nvSpPr>
        <p:spPr>
          <a:xfrm>
            <a:off x="8163896" y="4078071"/>
            <a:ext cx="1813073" cy="1173553"/>
          </a:xfrm>
          <a:custGeom>
            <a:avLst/>
            <a:gdLst/>
            <a:ahLst/>
            <a:cxnLst/>
            <a:rect l="l" t="t" r="r" b="b"/>
            <a:pathLst>
              <a:path w="1813073" h="1173553">
                <a:moveTo>
                  <a:pt x="0" y="0"/>
                </a:moveTo>
                <a:lnTo>
                  <a:pt x="1813074" y="0"/>
                </a:lnTo>
                <a:lnTo>
                  <a:pt x="1813074" y="1173553"/>
                </a:lnTo>
                <a:lnTo>
                  <a:pt x="0" y="1173553"/>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n-NZ"/>
          </a:p>
        </p:txBody>
      </p:sp>
      <p:sp>
        <p:nvSpPr>
          <p:cNvPr id="16" name="Freeform 16"/>
          <p:cNvSpPr/>
          <p:nvPr/>
        </p:nvSpPr>
        <p:spPr>
          <a:xfrm>
            <a:off x="13074930" y="4103046"/>
            <a:ext cx="1181057" cy="1148578"/>
          </a:xfrm>
          <a:custGeom>
            <a:avLst/>
            <a:gdLst/>
            <a:ahLst/>
            <a:cxnLst/>
            <a:rect l="l" t="t" r="r" b="b"/>
            <a:pathLst>
              <a:path w="1181057" h="1148578">
                <a:moveTo>
                  <a:pt x="0" y="0"/>
                </a:moveTo>
                <a:lnTo>
                  <a:pt x="1181058" y="0"/>
                </a:lnTo>
                <a:lnTo>
                  <a:pt x="1181058" y="1148578"/>
                </a:lnTo>
                <a:lnTo>
                  <a:pt x="0" y="114857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NZ"/>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485035" y="-4485535"/>
            <a:ext cx="19258069" cy="19258069"/>
          </a:xfrm>
          <a:custGeom>
            <a:avLst/>
            <a:gdLst/>
            <a:ahLst/>
            <a:cxnLst/>
            <a:rect l="l" t="t" r="r" b="b"/>
            <a:pathLst>
              <a:path w="19258069" h="19258069">
                <a:moveTo>
                  <a:pt x="0" y="0"/>
                </a:moveTo>
                <a:lnTo>
                  <a:pt x="19258070" y="0"/>
                </a:lnTo>
                <a:lnTo>
                  <a:pt x="19258070" y="19258070"/>
                </a:lnTo>
                <a:lnTo>
                  <a:pt x="0" y="19258070"/>
                </a:lnTo>
                <a:lnTo>
                  <a:pt x="0" y="0"/>
                </a:lnTo>
                <a:close/>
              </a:path>
            </a:pathLst>
          </a:custGeom>
          <a:blipFill>
            <a:blip r:embed="rId3">
              <a:alphaModFix amt="4000"/>
              <a:extLst>
                <a:ext uri="{96DAC541-7B7A-43D3-8B79-37D633B846F1}">
                  <asvg:svgBlip xmlns:asvg="http://schemas.microsoft.com/office/drawing/2016/SVG/main" r:embed="rId4"/>
                </a:ext>
              </a:extLst>
            </a:blip>
            <a:stretch>
              <a:fillRect/>
            </a:stretch>
          </a:blipFill>
        </p:spPr>
        <p:txBody>
          <a:bodyPr/>
          <a:lstStyle/>
          <a:p>
            <a:endParaRPr lang="en-NZ"/>
          </a:p>
        </p:txBody>
      </p:sp>
      <p:grpSp>
        <p:nvGrpSpPr>
          <p:cNvPr id="3" name="Group 3"/>
          <p:cNvGrpSpPr/>
          <p:nvPr/>
        </p:nvGrpSpPr>
        <p:grpSpPr>
          <a:xfrm>
            <a:off x="1028700" y="1028700"/>
            <a:ext cx="852555" cy="852555"/>
            <a:chOff x="0" y="0"/>
            <a:chExt cx="1136740" cy="1136740"/>
          </a:xfrm>
        </p:grpSpPr>
        <p:sp>
          <p:nvSpPr>
            <p:cNvPr id="4" name="Freeform 4"/>
            <p:cNvSpPr/>
            <p:nvPr/>
          </p:nvSpPr>
          <p:spPr>
            <a:xfrm>
              <a:off x="0" y="0"/>
              <a:ext cx="1136740" cy="1136740"/>
            </a:xfrm>
            <a:custGeom>
              <a:avLst/>
              <a:gdLst/>
              <a:ahLst/>
              <a:cxnLst/>
              <a:rect l="l" t="t" r="r" b="b"/>
              <a:pathLst>
                <a:path w="1136740" h="1136740">
                  <a:moveTo>
                    <a:pt x="0" y="0"/>
                  </a:moveTo>
                  <a:lnTo>
                    <a:pt x="1136740" y="0"/>
                  </a:lnTo>
                  <a:lnTo>
                    <a:pt x="1136740" y="1136740"/>
                  </a:lnTo>
                  <a:lnTo>
                    <a:pt x="0" y="113674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NZ"/>
            </a:p>
          </p:txBody>
        </p:sp>
        <p:sp>
          <p:nvSpPr>
            <p:cNvPr id="5" name="TextBox 5"/>
            <p:cNvSpPr txBox="1"/>
            <p:nvPr/>
          </p:nvSpPr>
          <p:spPr>
            <a:xfrm>
              <a:off x="332697" y="488378"/>
              <a:ext cx="488373" cy="203562"/>
            </a:xfrm>
            <a:prstGeom prst="rect">
              <a:avLst/>
            </a:prstGeom>
          </p:spPr>
          <p:txBody>
            <a:bodyPr lIns="0" tIns="0" rIns="0" bIns="0" rtlCol="0" anchor="t">
              <a:spAutoFit/>
            </a:bodyPr>
            <a:lstStyle/>
            <a:p>
              <a:pPr algn="ctr">
                <a:lnSpc>
                  <a:spcPts val="1077"/>
                </a:lnSpc>
              </a:pPr>
              <a:r>
                <a:rPr lang="en-US" sz="1066" spc="-65">
                  <a:solidFill>
                    <a:srgbClr val="343434"/>
                  </a:solidFill>
                  <a:latin typeface="Mokoto Glitch 2"/>
                  <a:ea typeface="Mokoto Glitch 2"/>
                  <a:cs typeface="Mokoto Glitch 2"/>
                  <a:sym typeface="Mokoto Glitch 2"/>
                </a:rPr>
                <a:t>#43</a:t>
              </a:r>
            </a:p>
          </p:txBody>
        </p:sp>
      </p:grpSp>
      <p:sp>
        <p:nvSpPr>
          <p:cNvPr id="6" name="TextBox 6"/>
          <p:cNvSpPr txBox="1"/>
          <p:nvPr/>
        </p:nvSpPr>
        <p:spPr>
          <a:xfrm>
            <a:off x="4376149" y="1795530"/>
            <a:ext cx="9535701" cy="1209674"/>
          </a:xfrm>
          <a:prstGeom prst="rect">
            <a:avLst/>
          </a:prstGeom>
        </p:spPr>
        <p:txBody>
          <a:bodyPr lIns="0" tIns="0" rIns="0" bIns="0" rtlCol="0" anchor="t">
            <a:spAutoFit/>
          </a:bodyPr>
          <a:lstStyle/>
          <a:p>
            <a:pPr algn="ctr">
              <a:lnSpc>
                <a:spcPts val="8400"/>
              </a:lnSpc>
            </a:pPr>
            <a:r>
              <a:rPr lang="en-US" sz="6000" b="1">
                <a:solidFill>
                  <a:srgbClr val="343434"/>
                </a:solidFill>
                <a:latin typeface="Cooper Hewitt Bold"/>
                <a:ea typeface="Cooper Hewitt Bold"/>
                <a:cs typeface="Cooper Hewitt Bold"/>
                <a:sym typeface="Cooper Hewitt Bold"/>
              </a:rPr>
              <a:t>CONCLUSION</a:t>
            </a:r>
          </a:p>
        </p:txBody>
      </p:sp>
      <p:sp>
        <p:nvSpPr>
          <p:cNvPr id="7" name="TextBox 7"/>
          <p:cNvSpPr txBox="1"/>
          <p:nvPr/>
        </p:nvSpPr>
        <p:spPr>
          <a:xfrm>
            <a:off x="16253563" y="8953500"/>
            <a:ext cx="1005737" cy="304800"/>
          </a:xfrm>
          <a:prstGeom prst="rect">
            <a:avLst/>
          </a:prstGeom>
        </p:spPr>
        <p:txBody>
          <a:bodyPr lIns="0" tIns="0" rIns="0" bIns="0" rtlCol="0" anchor="t">
            <a:spAutoFit/>
          </a:bodyPr>
          <a:lstStyle/>
          <a:p>
            <a:pPr algn="r">
              <a:lnSpc>
                <a:spcPts val="2100"/>
              </a:lnSpc>
            </a:pPr>
            <a:r>
              <a:rPr lang="en-US" sz="1500" b="1">
                <a:solidFill>
                  <a:srgbClr val="343434"/>
                </a:solidFill>
                <a:latin typeface="Cooper Hewitt Bold"/>
                <a:ea typeface="Cooper Hewitt Bold"/>
                <a:cs typeface="Cooper Hewitt Bold"/>
                <a:sym typeface="Cooper Hewitt Bold"/>
              </a:rPr>
              <a:t>Page 09</a:t>
            </a:r>
          </a:p>
        </p:txBody>
      </p:sp>
      <p:sp>
        <p:nvSpPr>
          <p:cNvPr id="8" name="TextBox 8"/>
          <p:cNvSpPr txBox="1"/>
          <p:nvPr/>
        </p:nvSpPr>
        <p:spPr>
          <a:xfrm>
            <a:off x="1326041" y="3602650"/>
            <a:ext cx="11597136" cy="3223521"/>
          </a:xfrm>
          <a:prstGeom prst="rect">
            <a:avLst/>
          </a:prstGeom>
        </p:spPr>
        <p:txBody>
          <a:bodyPr lIns="0" tIns="0" rIns="0" bIns="0" rtlCol="0" anchor="t">
            <a:spAutoFit/>
          </a:bodyPr>
          <a:lstStyle/>
          <a:p>
            <a:pPr marL="562167" lvl="1" indent="-281084" algn="just">
              <a:lnSpc>
                <a:spcPts val="3645"/>
              </a:lnSpc>
              <a:buFont typeface="Arial"/>
              <a:buChar char="•"/>
            </a:pPr>
            <a:r>
              <a:rPr lang="en-US" sz="2603">
                <a:solidFill>
                  <a:srgbClr val="343434"/>
                </a:solidFill>
                <a:latin typeface="Cooper Hewitt"/>
                <a:ea typeface="Cooper Hewitt"/>
                <a:cs typeface="Cooper Hewitt"/>
                <a:sym typeface="Cooper Hewitt"/>
              </a:rPr>
              <a:t>Explored literature to address sparsity and frequency memory access issues.</a:t>
            </a:r>
          </a:p>
          <a:p>
            <a:pPr marL="562167" lvl="1" indent="-281084" algn="just">
              <a:lnSpc>
                <a:spcPts val="3645"/>
              </a:lnSpc>
              <a:buFont typeface="Arial"/>
              <a:buChar char="•"/>
            </a:pPr>
            <a:r>
              <a:rPr lang="en-US" sz="2603">
                <a:solidFill>
                  <a:srgbClr val="343434"/>
                </a:solidFill>
                <a:latin typeface="Cooper Hewitt"/>
                <a:ea typeface="Cooper Hewitt"/>
                <a:cs typeface="Cooper Hewitt"/>
                <a:sym typeface="Cooper Hewitt"/>
              </a:rPr>
              <a:t>Simulated a systolic array that performs MAC operations in 1 clock cycle</a:t>
            </a:r>
          </a:p>
          <a:p>
            <a:pPr algn="just">
              <a:lnSpc>
                <a:spcPts val="3645"/>
              </a:lnSpc>
            </a:pPr>
            <a:endParaRPr lang="en-US" sz="2603">
              <a:solidFill>
                <a:srgbClr val="343434"/>
              </a:solidFill>
              <a:latin typeface="Cooper Hewitt"/>
              <a:ea typeface="Cooper Hewitt"/>
              <a:cs typeface="Cooper Hewitt"/>
              <a:sym typeface="Cooper Hewitt"/>
            </a:endParaRPr>
          </a:p>
          <a:p>
            <a:pPr algn="just">
              <a:lnSpc>
                <a:spcPts val="3645"/>
              </a:lnSpc>
            </a:pPr>
            <a:r>
              <a:rPr lang="en-US" sz="2603">
                <a:solidFill>
                  <a:srgbClr val="343434"/>
                </a:solidFill>
                <a:latin typeface="Cooper Hewitt"/>
                <a:ea typeface="Cooper Hewitt"/>
                <a:cs typeface="Cooper Hewitt"/>
                <a:sym typeface="Cooper Hewitt"/>
              </a:rPr>
              <a:t>Next Steps:</a:t>
            </a:r>
          </a:p>
          <a:p>
            <a:pPr marL="562167" lvl="1" indent="-281084" algn="just">
              <a:lnSpc>
                <a:spcPts val="3645"/>
              </a:lnSpc>
              <a:buFont typeface="Arial"/>
              <a:buChar char="•"/>
            </a:pPr>
            <a:r>
              <a:rPr lang="en-US" sz="2603">
                <a:solidFill>
                  <a:srgbClr val="343434"/>
                </a:solidFill>
                <a:latin typeface="Cooper Hewitt"/>
                <a:ea typeface="Cooper Hewitt"/>
                <a:cs typeface="Cooper Hewitt"/>
                <a:sym typeface="Cooper Hewitt"/>
              </a:rPr>
              <a:t>Integrate NIOS II for control and memory management</a:t>
            </a:r>
          </a:p>
          <a:p>
            <a:pPr marL="562167" lvl="1" indent="-281084" algn="just">
              <a:lnSpc>
                <a:spcPts val="3645"/>
              </a:lnSpc>
              <a:buFont typeface="Arial"/>
              <a:buChar char="•"/>
            </a:pPr>
            <a:r>
              <a:rPr lang="en-US" sz="2603">
                <a:solidFill>
                  <a:srgbClr val="343434"/>
                </a:solidFill>
                <a:latin typeface="Cooper Hewitt"/>
                <a:ea typeface="Cooper Hewitt"/>
                <a:cs typeface="Cooper Hewitt"/>
                <a:sym typeface="Cooper Hewitt"/>
              </a:rPr>
              <a:t>Add hardware memory support</a:t>
            </a:r>
          </a:p>
          <a:p>
            <a:pPr marL="562167" lvl="1" indent="-281084" algn="just">
              <a:lnSpc>
                <a:spcPts val="3645"/>
              </a:lnSpc>
              <a:buFont typeface="Arial"/>
              <a:buChar char="•"/>
            </a:pPr>
            <a:r>
              <a:rPr lang="en-US" sz="2603">
                <a:solidFill>
                  <a:srgbClr val="343434"/>
                </a:solidFill>
                <a:latin typeface="Cooper Hewitt"/>
                <a:ea typeface="Cooper Hewitt"/>
                <a:cs typeface="Cooper Hewitt"/>
                <a:sym typeface="Cooper Hewitt"/>
              </a:rPr>
              <a:t>Apply sparsity mitigation techniques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 name=""/>
        <p:cNvGrpSpPr/>
        <p:nvPr/>
      </p:nvGrpSpPr>
      <p:grpSpPr>
        <a:xfrm>
          <a:off x="0" y="0"/>
          <a:ext cx="0" cy="0"/>
          <a:chOff x="0" y="0"/>
          <a:chExt cx="0" cy="0"/>
        </a:xfrm>
      </p:grpSpPr>
      <p:sp>
        <p:nvSpPr>
          <p:cNvPr id="2" name="Freeform 2"/>
          <p:cNvSpPr/>
          <p:nvPr/>
        </p:nvSpPr>
        <p:spPr>
          <a:xfrm>
            <a:off x="-485035" y="-4485535"/>
            <a:ext cx="19258069" cy="19258069"/>
          </a:xfrm>
          <a:custGeom>
            <a:avLst/>
            <a:gdLst/>
            <a:ahLst/>
            <a:cxnLst/>
            <a:rect l="l" t="t" r="r" b="b"/>
            <a:pathLst>
              <a:path w="19258069" h="19258069">
                <a:moveTo>
                  <a:pt x="0" y="0"/>
                </a:moveTo>
                <a:lnTo>
                  <a:pt x="19258070" y="0"/>
                </a:lnTo>
                <a:lnTo>
                  <a:pt x="19258070" y="19258070"/>
                </a:lnTo>
                <a:lnTo>
                  <a:pt x="0" y="19258070"/>
                </a:lnTo>
                <a:lnTo>
                  <a:pt x="0" y="0"/>
                </a:lnTo>
                <a:close/>
              </a:path>
            </a:pathLst>
          </a:custGeom>
          <a:blipFill>
            <a:blip r:embed="rId2">
              <a:alphaModFix amt="4000"/>
              <a:extLst>
                <a:ext uri="{96DAC541-7B7A-43D3-8B79-37D633B846F1}">
                  <asvg:svgBlip xmlns:asvg="http://schemas.microsoft.com/office/drawing/2016/SVG/main" r:embed="rId3"/>
                </a:ext>
              </a:extLst>
            </a:blip>
            <a:stretch>
              <a:fillRect/>
            </a:stretch>
          </a:blipFill>
        </p:spPr>
        <p:txBody>
          <a:bodyPr/>
          <a:lstStyle/>
          <a:p>
            <a:endParaRPr lang="en-NZ"/>
          </a:p>
        </p:txBody>
      </p:sp>
      <p:sp>
        <p:nvSpPr>
          <p:cNvPr id="3" name="TextBox 3"/>
          <p:cNvSpPr txBox="1"/>
          <p:nvPr/>
        </p:nvSpPr>
        <p:spPr>
          <a:xfrm>
            <a:off x="933983" y="3152569"/>
            <a:ext cx="16420035" cy="3874815"/>
          </a:xfrm>
          <a:prstGeom prst="rect">
            <a:avLst/>
          </a:prstGeom>
        </p:spPr>
        <p:txBody>
          <a:bodyPr lIns="0" tIns="0" rIns="0" bIns="0" rtlCol="0" anchor="t">
            <a:spAutoFit/>
          </a:bodyPr>
          <a:lstStyle/>
          <a:p>
            <a:pPr algn="ctr">
              <a:lnSpc>
                <a:spcPts val="27108"/>
              </a:lnSpc>
            </a:pPr>
            <a:r>
              <a:rPr lang="en-US" sz="19362" b="1">
                <a:solidFill>
                  <a:srgbClr val="343434"/>
                </a:solidFill>
                <a:latin typeface="Cooper Hewitt Bold"/>
                <a:ea typeface="Cooper Hewitt Bold"/>
                <a:cs typeface="Cooper Hewitt Bold"/>
                <a:sym typeface="Cooper Hewitt Bold"/>
              </a:rPr>
              <a:t>THANK YOU</a:t>
            </a:r>
          </a:p>
        </p:txBody>
      </p:sp>
      <p:sp>
        <p:nvSpPr>
          <p:cNvPr id="4" name="TextBox 4"/>
          <p:cNvSpPr txBox="1"/>
          <p:nvPr/>
        </p:nvSpPr>
        <p:spPr>
          <a:xfrm>
            <a:off x="16253563" y="8953500"/>
            <a:ext cx="1005737" cy="304800"/>
          </a:xfrm>
          <a:prstGeom prst="rect">
            <a:avLst/>
          </a:prstGeom>
        </p:spPr>
        <p:txBody>
          <a:bodyPr lIns="0" tIns="0" rIns="0" bIns="0" rtlCol="0" anchor="t">
            <a:spAutoFit/>
          </a:bodyPr>
          <a:lstStyle/>
          <a:p>
            <a:pPr algn="r">
              <a:lnSpc>
                <a:spcPts val="2100"/>
              </a:lnSpc>
            </a:pPr>
            <a:r>
              <a:rPr lang="en-US" sz="1500" b="1">
                <a:solidFill>
                  <a:srgbClr val="343434"/>
                </a:solidFill>
                <a:latin typeface="Cooper Hewitt Bold"/>
                <a:ea typeface="Cooper Hewitt Bold"/>
                <a:cs typeface="Cooper Hewitt Bold"/>
                <a:sym typeface="Cooper Hewitt Bold"/>
              </a:rPr>
              <a:t>Page 10</a:t>
            </a:r>
          </a:p>
        </p:txBody>
      </p:sp>
      <p:grpSp>
        <p:nvGrpSpPr>
          <p:cNvPr id="5" name="Group 5"/>
          <p:cNvGrpSpPr/>
          <p:nvPr/>
        </p:nvGrpSpPr>
        <p:grpSpPr>
          <a:xfrm>
            <a:off x="1028700" y="1028700"/>
            <a:ext cx="852555" cy="852555"/>
            <a:chOff x="0" y="0"/>
            <a:chExt cx="1136740" cy="1136740"/>
          </a:xfrm>
        </p:grpSpPr>
        <p:sp>
          <p:nvSpPr>
            <p:cNvPr id="6" name="Freeform 6"/>
            <p:cNvSpPr/>
            <p:nvPr/>
          </p:nvSpPr>
          <p:spPr>
            <a:xfrm>
              <a:off x="0" y="0"/>
              <a:ext cx="1136740" cy="1136740"/>
            </a:xfrm>
            <a:custGeom>
              <a:avLst/>
              <a:gdLst/>
              <a:ahLst/>
              <a:cxnLst/>
              <a:rect l="l" t="t" r="r" b="b"/>
              <a:pathLst>
                <a:path w="1136740" h="1136740">
                  <a:moveTo>
                    <a:pt x="0" y="0"/>
                  </a:moveTo>
                  <a:lnTo>
                    <a:pt x="1136740" y="0"/>
                  </a:lnTo>
                  <a:lnTo>
                    <a:pt x="1136740" y="1136740"/>
                  </a:lnTo>
                  <a:lnTo>
                    <a:pt x="0" y="11367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NZ"/>
            </a:p>
          </p:txBody>
        </p:sp>
        <p:sp>
          <p:nvSpPr>
            <p:cNvPr id="7" name="TextBox 7"/>
            <p:cNvSpPr txBox="1"/>
            <p:nvPr/>
          </p:nvSpPr>
          <p:spPr>
            <a:xfrm>
              <a:off x="332697" y="488378"/>
              <a:ext cx="488373" cy="203562"/>
            </a:xfrm>
            <a:prstGeom prst="rect">
              <a:avLst/>
            </a:prstGeom>
          </p:spPr>
          <p:txBody>
            <a:bodyPr lIns="0" tIns="0" rIns="0" bIns="0" rtlCol="0" anchor="t">
              <a:spAutoFit/>
            </a:bodyPr>
            <a:lstStyle/>
            <a:p>
              <a:pPr algn="ctr">
                <a:lnSpc>
                  <a:spcPts val="1077"/>
                </a:lnSpc>
              </a:pPr>
              <a:r>
                <a:rPr lang="en-US" sz="1066" spc="-65">
                  <a:solidFill>
                    <a:srgbClr val="343434"/>
                  </a:solidFill>
                  <a:latin typeface="Mokoto Glitch 2"/>
                  <a:ea typeface="Mokoto Glitch 2"/>
                  <a:cs typeface="Mokoto Glitch 2"/>
                  <a:sym typeface="Mokoto Glitch 2"/>
                </a:rPr>
                <a:t>#43</a:t>
              </a:r>
            </a:p>
          </p:txBody>
        </p:sp>
      </p:grpSp>
      <p:sp>
        <p:nvSpPr>
          <p:cNvPr id="8" name="Freeform 8"/>
          <p:cNvSpPr/>
          <p:nvPr/>
        </p:nvSpPr>
        <p:spPr>
          <a:xfrm>
            <a:off x="14164030" y="2163300"/>
            <a:ext cx="3095270" cy="2003484"/>
          </a:xfrm>
          <a:custGeom>
            <a:avLst/>
            <a:gdLst/>
            <a:ahLst/>
            <a:cxnLst/>
            <a:rect l="l" t="t" r="r" b="b"/>
            <a:pathLst>
              <a:path w="3095270" h="2003484">
                <a:moveTo>
                  <a:pt x="0" y="0"/>
                </a:moveTo>
                <a:lnTo>
                  <a:pt x="3095270" y="0"/>
                </a:lnTo>
                <a:lnTo>
                  <a:pt x="3095270" y="2003484"/>
                </a:lnTo>
                <a:lnTo>
                  <a:pt x="0" y="2003484"/>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NZ"/>
          </a:p>
        </p:txBody>
      </p:sp>
      <p:grpSp>
        <p:nvGrpSpPr>
          <p:cNvPr id="9" name="Group 9"/>
          <p:cNvGrpSpPr/>
          <p:nvPr/>
        </p:nvGrpSpPr>
        <p:grpSpPr>
          <a:xfrm>
            <a:off x="5788529" y="874651"/>
            <a:ext cx="2577298" cy="2577298"/>
            <a:chOff x="0" y="0"/>
            <a:chExt cx="3436397" cy="3436397"/>
          </a:xfrm>
        </p:grpSpPr>
        <p:sp>
          <p:nvSpPr>
            <p:cNvPr id="10" name="Freeform 10"/>
            <p:cNvSpPr/>
            <p:nvPr/>
          </p:nvSpPr>
          <p:spPr>
            <a:xfrm>
              <a:off x="0" y="0"/>
              <a:ext cx="3436397" cy="3436397"/>
            </a:xfrm>
            <a:custGeom>
              <a:avLst/>
              <a:gdLst/>
              <a:ahLst/>
              <a:cxnLst/>
              <a:rect l="l" t="t" r="r" b="b"/>
              <a:pathLst>
                <a:path w="3436397" h="3436397">
                  <a:moveTo>
                    <a:pt x="0" y="0"/>
                  </a:moveTo>
                  <a:lnTo>
                    <a:pt x="3436397" y="0"/>
                  </a:lnTo>
                  <a:lnTo>
                    <a:pt x="3436397" y="3436397"/>
                  </a:lnTo>
                  <a:lnTo>
                    <a:pt x="0" y="3436397"/>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NZ"/>
            </a:p>
          </p:txBody>
        </p:sp>
        <p:grpSp>
          <p:nvGrpSpPr>
            <p:cNvPr id="11" name="Group 11"/>
            <p:cNvGrpSpPr/>
            <p:nvPr/>
          </p:nvGrpSpPr>
          <p:grpSpPr>
            <a:xfrm>
              <a:off x="1011841" y="1257099"/>
              <a:ext cx="552450" cy="666750"/>
              <a:chOff x="0" y="0"/>
              <a:chExt cx="552450" cy="666750"/>
            </a:xfrm>
          </p:grpSpPr>
          <p:sp>
            <p:nvSpPr>
              <p:cNvPr id="12" name="Freeform 12"/>
              <p:cNvSpPr/>
              <p:nvPr/>
            </p:nvSpPr>
            <p:spPr>
              <a:xfrm>
                <a:off x="48260" y="48260"/>
                <a:ext cx="455930" cy="572770"/>
              </a:xfrm>
              <a:custGeom>
                <a:avLst/>
                <a:gdLst/>
                <a:ahLst/>
                <a:cxnLst/>
                <a:rect l="l" t="t" r="r" b="b"/>
                <a:pathLst>
                  <a:path w="455930" h="572770">
                    <a:moveTo>
                      <a:pt x="127000" y="474980"/>
                    </a:moveTo>
                    <a:cubicBezTo>
                      <a:pt x="97790" y="161290"/>
                      <a:pt x="102870" y="120650"/>
                      <a:pt x="114300" y="96520"/>
                    </a:cubicBezTo>
                    <a:cubicBezTo>
                      <a:pt x="120650" y="81280"/>
                      <a:pt x="128270" y="72390"/>
                      <a:pt x="138430" y="63500"/>
                    </a:cubicBezTo>
                    <a:cubicBezTo>
                      <a:pt x="149860" y="55880"/>
                      <a:pt x="162560" y="49530"/>
                      <a:pt x="176530" y="46990"/>
                    </a:cubicBezTo>
                    <a:cubicBezTo>
                      <a:pt x="189230" y="44450"/>
                      <a:pt x="203200" y="44450"/>
                      <a:pt x="215900" y="49530"/>
                    </a:cubicBezTo>
                    <a:cubicBezTo>
                      <a:pt x="232410" y="54610"/>
                      <a:pt x="254000" y="72390"/>
                      <a:pt x="264160" y="86360"/>
                    </a:cubicBezTo>
                    <a:cubicBezTo>
                      <a:pt x="271780" y="97790"/>
                      <a:pt x="275590" y="111760"/>
                      <a:pt x="276860" y="124460"/>
                    </a:cubicBezTo>
                    <a:cubicBezTo>
                      <a:pt x="276860" y="137160"/>
                      <a:pt x="273050" y="165100"/>
                      <a:pt x="269240" y="165100"/>
                    </a:cubicBezTo>
                    <a:cubicBezTo>
                      <a:pt x="264160" y="165100"/>
                      <a:pt x="242570" y="68580"/>
                      <a:pt x="246380" y="68580"/>
                    </a:cubicBezTo>
                    <a:cubicBezTo>
                      <a:pt x="248920" y="67310"/>
                      <a:pt x="279400" y="120650"/>
                      <a:pt x="283210" y="148590"/>
                    </a:cubicBezTo>
                    <a:cubicBezTo>
                      <a:pt x="288290" y="175260"/>
                      <a:pt x="281940" y="204470"/>
                      <a:pt x="274320" y="231140"/>
                    </a:cubicBezTo>
                    <a:cubicBezTo>
                      <a:pt x="266700" y="257810"/>
                      <a:pt x="255270" y="280670"/>
                      <a:pt x="237490" y="307340"/>
                    </a:cubicBezTo>
                    <a:cubicBezTo>
                      <a:pt x="212090" y="342900"/>
                      <a:pt x="163830" y="402590"/>
                      <a:pt x="129540" y="420370"/>
                    </a:cubicBezTo>
                    <a:cubicBezTo>
                      <a:pt x="107950" y="430530"/>
                      <a:pt x="86360" y="431800"/>
                      <a:pt x="67310" y="426720"/>
                    </a:cubicBezTo>
                    <a:cubicBezTo>
                      <a:pt x="48260" y="421640"/>
                      <a:pt x="27940" y="405130"/>
                      <a:pt x="16510" y="391160"/>
                    </a:cubicBezTo>
                    <a:cubicBezTo>
                      <a:pt x="7620" y="378460"/>
                      <a:pt x="2540" y="365760"/>
                      <a:pt x="2540" y="351790"/>
                    </a:cubicBezTo>
                    <a:cubicBezTo>
                      <a:pt x="1270" y="332740"/>
                      <a:pt x="13970" y="314960"/>
                      <a:pt x="17780" y="290830"/>
                    </a:cubicBezTo>
                    <a:cubicBezTo>
                      <a:pt x="22860" y="254000"/>
                      <a:pt x="6350" y="184150"/>
                      <a:pt x="17780" y="151130"/>
                    </a:cubicBezTo>
                    <a:cubicBezTo>
                      <a:pt x="26670" y="128270"/>
                      <a:pt x="43180" y="111760"/>
                      <a:pt x="58420" y="101600"/>
                    </a:cubicBezTo>
                    <a:cubicBezTo>
                      <a:pt x="69850" y="92710"/>
                      <a:pt x="85090" y="90170"/>
                      <a:pt x="99060" y="88900"/>
                    </a:cubicBezTo>
                    <a:cubicBezTo>
                      <a:pt x="113030" y="88900"/>
                      <a:pt x="128270" y="91440"/>
                      <a:pt x="140970" y="97790"/>
                    </a:cubicBezTo>
                    <a:cubicBezTo>
                      <a:pt x="153670" y="104140"/>
                      <a:pt x="166370" y="113030"/>
                      <a:pt x="173990" y="124460"/>
                    </a:cubicBezTo>
                    <a:cubicBezTo>
                      <a:pt x="182880" y="135890"/>
                      <a:pt x="189230" y="149860"/>
                      <a:pt x="190500" y="163830"/>
                    </a:cubicBezTo>
                    <a:cubicBezTo>
                      <a:pt x="193040" y="177800"/>
                      <a:pt x="190500" y="205740"/>
                      <a:pt x="187960" y="207010"/>
                    </a:cubicBezTo>
                    <a:cubicBezTo>
                      <a:pt x="182880" y="207010"/>
                      <a:pt x="157480" y="124460"/>
                      <a:pt x="160020" y="123190"/>
                    </a:cubicBezTo>
                    <a:cubicBezTo>
                      <a:pt x="163830" y="121920"/>
                      <a:pt x="190500" y="166370"/>
                      <a:pt x="204470" y="195580"/>
                    </a:cubicBezTo>
                    <a:cubicBezTo>
                      <a:pt x="224790" y="240030"/>
                      <a:pt x="237490" y="326390"/>
                      <a:pt x="262890" y="363220"/>
                    </a:cubicBezTo>
                    <a:cubicBezTo>
                      <a:pt x="279400" y="387350"/>
                      <a:pt x="325120" y="403860"/>
                      <a:pt x="322580" y="411480"/>
                    </a:cubicBezTo>
                    <a:cubicBezTo>
                      <a:pt x="318770" y="420370"/>
                      <a:pt x="242570" y="424180"/>
                      <a:pt x="234950" y="410210"/>
                    </a:cubicBezTo>
                    <a:cubicBezTo>
                      <a:pt x="226060" y="397510"/>
                      <a:pt x="247650" y="354330"/>
                      <a:pt x="267970" y="335280"/>
                    </a:cubicBezTo>
                    <a:cubicBezTo>
                      <a:pt x="292100" y="312420"/>
                      <a:pt x="346710" y="288290"/>
                      <a:pt x="377190" y="292100"/>
                    </a:cubicBezTo>
                    <a:cubicBezTo>
                      <a:pt x="401320" y="295910"/>
                      <a:pt x="427990" y="318770"/>
                      <a:pt x="440690" y="337820"/>
                    </a:cubicBezTo>
                    <a:cubicBezTo>
                      <a:pt x="452120" y="355600"/>
                      <a:pt x="454660" y="383540"/>
                      <a:pt x="452120" y="401320"/>
                    </a:cubicBezTo>
                    <a:cubicBezTo>
                      <a:pt x="450850" y="416560"/>
                      <a:pt x="444500" y="430530"/>
                      <a:pt x="434340" y="441960"/>
                    </a:cubicBezTo>
                    <a:cubicBezTo>
                      <a:pt x="422910" y="455930"/>
                      <a:pt x="398780" y="472440"/>
                      <a:pt x="379730" y="476250"/>
                    </a:cubicBezTo>
                    <a:cubicBezTo>
                      <a:pt x="359410" y="480060"/>
                      <a:pt x="331470" y="473710"/>
                      <a:pt x="314960" y="464820"/>
                    </a:cubicBezTo>
                    <a:cubicBezTo>
                      <a:pt x="302260" y="458470"/>
                      <a:pt x="283210" y="445770"/>
                      <a:pt x="284480" y="434340"/>
                    </a:cubicBezTo>
                    <a:cubicBezTo>
                      <a:pt x="287020" y="410210"/>
                      <a:pt x="415290" y="327660"/>
                      <a:pt x="439420" y="337820"/>
                    </a:cubicBezTo>
                    <a:cubicBezTo>
                      <a:pt x="453390" y="344170"/>
                      <a:pt x="454660" y="382270"/>
                      <a:pt x="452120" y="402590"/>
                    </a:cubicBezTo>
                    <a:cubicBezTo>
                      <a:pt x="448310" y="421640"/>
                      <a:pt x="434340" y="445770"/>
                      <a:pt x="419100" y="458470"/>
                    </a:cubicBezTo>
                    <a:cubicBezTo>
                      <a:pt x="402590" y="471170"/>
                      <a:pt x="374650" y="477520"/>
                      <a:pt x="356870" y="477520"/>
                    </a:cubicBezTo>
                    <a:cubicBezTo>
                      <a:pt x="341630" y="478790"/>
                      <a:pt x="326390" y="472440"/>
                      <a:pt x="314960" y="464820"/>
                    </a:cubicBezTo>
                    <a:cubicBezTo>
                      <a:pt x="302260" y="458470"/>
                      <a:pt x="293370" y="450850"/>
                      <a:pt x="283210" y="434340"/>
                    </a:cubicBezTo>
                    <a:cubicBezTo>
                      <a:pt x="262890" y="403860"/>
                      <a:pt x="236220" y="321310"/>
                      <a:pt x="223520" y="278130"/>
                    </a:cubicBezTo>
                    <a:cubicBezTo>
                      <a:pt x="214630" y="246380"/>
                      <a:pt x="200660" y="215900"/>
                      <a:pt x="205740" y="196850"/>
                    </a:cubicBezTo>
                    <a:cubicBezTo>
                      <a:pt x="209550" y="184150"/>
                      <a:pt x="231140" y="177800"/>
                      <a:pt x="229870" y="170180"/>
                    </a:cubicBezTo>
                    <a:cubicBezTo>
                      <a:pt x="229870" y="162560"/>
                      <a:pt x="214630" y="157480"/>
                      <a:pt x="209550" y="148590"/>
                    </a:cubicBezTo>
                    <a:cubicBezTo>
                      <a:pt x="200660" y="134620"/>
                      <a:pt x="191770" y="110490"/>
                      <a:pt x="191770" y="91440"/>
                    </a:cubicBezTo>
                    <a:cubicBezTo>
                      <a:pt x="193040" y="73660"/>
                      <a:pt x="200660" y="50800"/>
                      <a:pt x="212090" y="36830"/>
                    </a:cubicBezTo>
                    <a:cubicBezTo>
                      <a:pt x="224790" y="21590"/>
                      <a:pt x="243840" y="8890"/>
                      <a:pt x="262890" y="5080"/>
                    </a:cubicBezTo>
                    <a:cubicBezTo>
                      <a:pt x="280670" y="0"/>
                      <a:pt x="303530" y="2540"/>
                      <a:pt x="321310" y="10160"/>
                    </a:cubicBezTo>
                    <a:cubicBezTo>
                      <a:pt x="337820" y="17780"/>
                      <a:pt x="355600" y="33020"/>
                      <a:pt x="364490" y="49530"/>
                    </a:cubicBezTo>
                    <a:cubicBezTo>
                      <a:pt x="374650" y="66040"/>
                      <a:pt x="377190" y="91440"/>
                      <a:pt x="375920" y="106680"/>
                    </a:cubicBezTo>
                    <a:cubicBezTo>
                      <a:pt x="375920" y="118110"/>
                      <a:pt x="372110" y="127000"/>
                      <a:pt x="367030" y="135890"/>
                    </a:cubicBezTo>
                    <a:cubicBezTo>
                      <a:pt x="363220" y="144780"/>
                      <a:pt x="358140" y="152400"/>
                      <a:pt x="349250" y="160020"/>
                    </a:cubicBezTo>
                    <a:cubicBezTo>
                      <a:pt x="337820" y="170180"/>
                      <a:pt x="314960" y="184150"/>
                      <a:pt x="297180" y="186690"/>
                    </a:cubicBezTo>
                    <a:cubicBezTo>
                      <a:pt x="278130" y="189230"/>
                      <a:pt x="255270" y="184150"/>
                      <a:pt x="238760" y="175260"/>
                    </a:cubicBezTo>
                    <a:cubicBezTo>
                      <a:pt x="222250" y="166370"/>
                      <a:pt x="207010" y="148590"/>
                      <a:pt x="199390" y="130810"/>
                    </a:cubicBezTo>
                    <a:cubicBezTo>
                      <a:pt x="191770" y="114300"/>
                      <a:pt x="190500" y="90170"/>
                      <a:pt x="194310" y="72390"/>
                    </a:cubicBezTo>
                    <a:cubicBezTo>
                      <a:pt x="199390" y="54610"/>
                      <a:pt x="212090" y="34290"/>
                      <a:pt x="227330" y="22860"/>
                    </a:cubicBezTo>
                    <a:cubicBezTo>
                      <a:pt x="241300" y="11430"/>
                      <a:pt x="262890" y="2540"/>
                      <a:pt x="281940" y="2540"/>
                    </a:cubicBezTo>
                    <a:cubicBezTo>
                      <a:pt x="300990" y="1270"/>
                      <a:pt x="321310" y="2540"/>
                      <a:pt x="339090" y="19050"/>
                    </a:cubicBezTo>
                    <a:cubicBezTo>
                      <a:pt x="383540" y="64770"/>
                      <a:pt x="452120" y="309880"/>
                      <a:pt x="453390" y="379730"/>
                    </a:cubicBezTo>
                    <a:cubicBezTo>
                      <a:pt x="453390" y="408940"/>
                      <a:pt x="447040" y="426720"/>
                      <a:pt x="434340" y="441960"/>
                    </a:cubicBezTo>
                    <a:cubicBezTo>
                      <a:pt x="421640" y="458470"/>
                      <a:pt x="398780" y="472440"/>
                      <a:pt x="378460" y="476250"/>
                    </a:cubicBezTo>
                    <a:cubicBezTo>
                      <a:pt x="358140" y="480060"/>
                      <a:pt x="331470" y="473710"/>
                      <a:pt x="314960" y="464820"/>
                    </a:cubicBezTo>
                    <a:cubicBezTo>
                      <a:pt x="300990" y="458470"/>
                      <a:pt x="281940" y="447040"/>
                      <a:pt x="283210" y="434340"/>
                    </a:cubicBezTo>
                    <a:cubicBezTo>
                      <a:pt x="285750" y="410210"/>
                      <a:pt x="416560" y="327660"/>
                      <a:pt x="440690" y="337820"/>
                    </a:cubicBezTo>
                    <a:cubicBezTo>
                      <a:pt x="454660" y="344170"/>
                      <a:pt x="455930" y="382270"/>
                      <a:pt x="452120" y="401320"/>
                    </a:cubicBezTo>
                    <a:cubicBezTo>
                      <a:pt x="449580" y="421640"/>
                      <a:pt x="433070" y="445770"/>
                      <a:pt x="419100" y="457200"/>
                    </a:cubicBezTo>
                    <a:cubicBezTo>
                      <a:pt x="407670" y="468630"/>
                      <a:pt x="394970" y="473710"/>
                      <a:pt x="379730" y="476250"/>
                    </a:cubicBezTo>
                    <a:cubicBezTo>
                      <a:pt x="360680" y="478790"/>
                      <a:pt x="331470" y="473710"/>
                      <a:pt x="314960" y="464820"/>
                    </a:cubicBezTo>
                    <a:cubicBezTo>
                      <a:pt x="302260" y="458470"/>
                      <a:pt x="281940" y="436880"/>
                      <a:pt x="284480" y="434340"/>
                    </a:cubicBezTo>
                    <a:cubicBezTo>
                      <a:pt x="285750" y="430530"/>
                      <a:pt x="325120" y="457200"/>
                      <a:pt x="346710" y="454660"/>
                    </a:cubicBezTo>
                    <a:cubicBezTo>
                      <a:pt x="369570" y="453390"/>
                      <a:pt x="408940" y="414020"/>
                      <a:pt x="416560" y="420370"/>
                    </a:cubicBezTo>
                    <a:cubicBezTo>
                      <a:pt x="422910" y="426720"/>
                      <a:pt x="400050" y="471170"/>
                      <a:pt x="386080" y="494030"/>
                    </a:cubicBezTo>
                    <a:cubicBezTo>
                      <a:pt x="373380" y="516890"/>
                      <a:pt x="359410" y="543560"/>
                      <a:pt x="336550" y="556260"/>
                    </a:cubicBezTo>
                    <a:cubicBezTo>
                      <a:pt x="311150" y="570230"/>
                      <a:pt x="267970" y="572770"/>
                      <a:pt x="238760" y="566420"/>
                    </a:cubicBezTo>
                    <a:cubicBezTo>
                      <a:pt x="212090" y="560070"/>
                      <a:pt x="191770" y="546100"/>
                      <a:pt x="167640" y="524510"/>
                    </a:cubicBezTo>
                    <a:cubicBezTo>
                      <a:pt x="135890" y="495300"/>
                      <a:pt x="92710" y="431800"/>
                      <a:pt x="73660" y="392430"/>
                    </a:cubicBezTo>
                    <a:cubicBezTo>
                      <a:pt x="60960" y="365760"/>
                      <a:pt x="55880" y="345440"/>
                      <a:pt x="52070" y="320040"/>
                    </a:cubicBezTo>
                    <a:cubicBezTo>
                      <a:pt x="48260" y="292100"/>
                      <a:pt x="58420" y="262890"/>
                      <a:pt x="53340" y="234950"/>
                    </a:cubicBezTo>
                    <a:cubicBezTo>
                      <a:pt x="48260" y="207010"/>
                      <a:pt x="16510" y="172720"/>
                      <a:pt x="17780" y="151130"/>
                    </a:cubicBezTo>
                    <a:cubicBezTo>
                      <a:pt x="19050" y="135890"/>
                      <a:pt x="29210" y="124460"/>
                      <a:pt x="40640" y="114300"/>
                    </a:cubicBezTo>
                    <a:cubicBezTo>
                      <a:pt x="54610" y="102870"/>
                      <a:pt x="78740" y="90170"/>
                      <a:pt x="99060" y="88900"/>
                    </a:cubicBezTo>
                    <a:cubicBezTo>
                      <a:pt x="118110" y="88900"/>
                      <a:pt x="143510" y="96520"/>
                      <a:pt x="158750" y="109220"/>
                    </a:cubicBezTo>
                    <a:cubicBezTo>
                      <a:pt x="173990" y="121920"/>
                      <a:pt x="185420" y="138430"/>
                      <a:pt x="190500" y="163830"/>
                    </a:cubicBezTo>
                    <a:cubicBezTo>
                      <a:pt x="200660" y="213360"/>
                      <a:pt x="181610" y="354330"/>
                      <a:pt x="161290" y="392430"/>
                    </a:cubicBezTo>
                    <a:cubicBezTo>
                      <a:pt x="152400" y="408940"/>
                      <a:pt x="142240" y="414020"/>
                      <a:pt x="129540" y="420370"/>
                    </a:cubicBezTo>
                    <a:cubicBezTo>
                      <a:pt x="116840" y="425450"/>
                      <a:pt x="102870" y="429260"/>
                      <a:pt x="88900" y="429260"/>
                    </a:cubicBezTo>
                    <a:cubicBezTo>
                      <a:pt x="74930" y="429260"/>
                      <a:pt x="59690" y="425450"/>
                      <a:pt x="48260" y="419100"/>
                    </a:cubicBezTo>
                    <a:cubicBezTo>
                      <a:pt x="35560" y="412750"/>
                      <a:pt x="24130" y="402590"/>
                      <a:pt x="16510" y="391160"/>
                    </a:cubicBezTo>
                    <a:cubicBezTo>
                      <a:pt x="8890" y="379730"/>
                      <a:pt x="3810" y="364490"/>
                      <a:pt x="2540" y="351790"/>
                    </a:cubicBezTo>
                    <a:cubicBezTo>
                      <a:pt x="0" y="337820"/>
                      <a:pt x="1270" y="323850"/>
                      <a:pt x="7620" y="309880"/>
                    </a:cubicBezTo>
                    <a:cubicBezTo>
                      <a:pt x="17780" y="288290"/>
                      <a:pt x="44450" y="261620"/>
                      <a:pt x="67310" y="242570"/>
                    </a:cubicBezTo>
                    <a:cubicBezTo>
                      <a:pt x="90170" y="223520"/>
                      <a:pt x="133350" y="218440"/>
                      <a:pt x="142240" y="195580"/>
                    </a:cubicBezTo>
                    <a:cubicBezTo>
                      <a:pt x="151130" y="170180"/>
                      <a:pt x="109220" y="119380"/>
                      <a:pt x="114300" y="96520"/>
                    </a:cubicBezTo>
                    <a:cubicBezTo>
                      <a:pt x="116840" y="81280"/>
                      <a:pt x="128270" y="72390"/>
                      <a:pt x="138430" y="63500"/>
                    </a:cubicBezTo>
                    <a:cubicBezTo>
                      <a:pt x="149860" y="55880"/>
                      <a:pt x="161290" y="48260"/>
                      <a:pt x="176530" y="46990"/>
                    </a:cubicBezTo>
                    <a:cubicBezTo>
                      <a:pt x="193040" y="44450"/>
                      <a:pt x="219710" y="48260"/>
                      <a:pt x="234950" y="57150"/>
                    </a:cubicBezTo>
                    <a:cubicBezTo>
                      <a:pt x="251460" y="67310"/>
                      <a:pt x="265430" y="82550"/>
                      <a:pt x="273050" y="104140"/>
                    </a:cubicBezTo>
                    <a:cubicBezTo>
                      <a:pt x="284480" y="143510"/>
                      <a:pt x="259080" y="220980"/>
                      <a:pt x="260350" y="281940"/>
                    </a:cubicBezTo>
                    <a:cubicBezTo>
                      <a:pt x="261620" y="346710"/>
                      <a:pt x="293370" y="436880"/>
                      <a:pt x="283210" y="482600"/>
                    </a:cubicBezTo>
                    <a:cubicBezTo>
                      <a:pt x="276860" y="510540"/>
                      <a:pt x="262890" y="533400"/>
                      <a:pt x="246380" y="544830"/>
                    </a:cubicBezTo>
                    <a:cubicBezTo>
                      <a:pt x="231140" y="554990"/>
                      <a:pt x="208280" y="558800"/>
                      <a:pt x="191770" y="554990"/>
                    </a:cubicBezTo>
                    <a:cubicBezTo>
                      <a:pt x="173990" y="552450"/>
                      <a:pt x="154940" y="541020"/>
                      <a:pt x="143510" y="527050"/>
                    </a:cubicBezTo>
                    <a:cubicBezTo>
                      <a:pt x="133350" y="513080"/>
                      <a:pt x="127000" y="474980"/>
                      <a:pt x="127000" y="474980"/>
                    </a:cubicBezTo>
                  </a:path>
                </a:pathLst>
              </a:custGeom>
              <a:solidFill>
                <a:srgbClr val="FABDBD"/>
              </a:solidFill>
              <a:ln cap="sq">
                <a:noFill/>
                <a:prstDash val="solid"/>
                <a:miter/>
              </a:ln>
            </p:spPr>
            <p:txBody>
              <a:bodyPr/>
              <a:lstStyle/>
              <a:p>
                <a:endParaRPr lang="en-NZ"/>
              </a:p>
            </p:txBody>
          </p:sp>
        </p:grpSp>
        <p:sp>
          <p:nvSpPr>
            <p:cNvPr id="13" name="TextBox 13"/>
            <p:cNvSpPr txBox="1"/>
            <p:nvPr/>
          </p:nvSpPr>
          <p:spPr>
            <a:xfrm rot="20848516">
              <a:off x="1851321" y="1649944"/>
              <a:ext cx="371191" cy="663943"/>
            </a:xfrm>
            <a:prstGeom prst="rect">
              <a:avLst/>
            </a:prstGeom>
          </p:spPr>
          <p:txBody>
            <a:bodyPr lIns="0" tIns="0" rIns="0" bIns="0" rtlCol="0" anchor="t">
              <a:spAutoFit/>
            </a:bodyPr>
            <a:lstStyle/>
            <a:p>
              <a:pPr algn="l">
                <a:lnSpc>
                  <a:spcPts val="4085"/>
                </a:lnSpc>
              </a:pPr>
              <a:endParaRPr lang="en-US" sz="2918" b="1" dirty="0">
                <a:solidFill>
                  <a:srgbClr val="343434"/>
                </a:solidFill>
                <a:latin typeface="Cooper Hewitt Bold"/>
                <a:ea typeface="Cooper Hewitt Bold"/>
                <a:cs typeface="Cooper Hewitt Bold"/>
                <a:sym typeface="Cooper Hewitt Bold"/>
              </a:endParaRPr>
            </a:p>
          </p:txBody>
        </p:sp>
      </p:grpSp>
      <p:sp>
        <p:nvSpPr>
          <p:cNvPr id="14" name="Freeform 14"/>
          <p:cNvSpPr/>
          <p:nvPr/>
        </p:nvSpPr>
        <p:spPr>
          <a:xfrm>
            <a:off x="2722810" y="6708507"/>
            <a:ext cx="1938893" cy="3578493"/>
          </a:xfrm>
          <a:custGeom>
            <a:avLst/>
            <a:gdLst/>
            <a:ahLst/>
            <a:cxnLst/>
            <a:rect l="l" t="t" r="r" b="b"/>
            <a:pathLst>
              <a:path w="1938893" h="3578493">
                <a:moveTo>
                  <a:pt x="0" y="0"/>
                </a:moveTo>
                <a:lnTo>
                  <a:pt x="1938892" y="0"/>
                </a:lnTo>
                <a:lnTo>
                  <a:pt x="1938892" y="3578493"/>
                </a:lnTo>
                <a:lnTo>
                  <a:pt x="0" y="357849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NZ"/>
          </a:p>
        </p:txBody>
      </p:sp>
      <p:sp>
        <p:nvSpPr>
          <p:cNvPr id="15" name="Freeform 15"/>
          <p:cNvSpPr/>
          <p:nvPr/>
        </p:nvSpPr>
        <p:spPr>
          <a:xfrm rot="127548" flipH="1">
            <a:off x="11603860" y="7798105"/>
            <a:ext cx="3570675" cy="1623034"/>
          </a:xfrm>
          <a:custGeom>
            <a:avLst/>
            <a:gdLst/>
            <a:ahLst/>
            <a:cxnLst/>
            <a:rect l="l" t="t" r="r" b="b"/>
            <a:pathLst>
              <a:path w="3570675" h="1623034">
                <a:moveTo>
                  <a:pt x="3570675" y="0"/>
                </a:moveTo>
                <a:lnTo>
                  <a:pt x="0" y="0"/>
                </a:lnTo>
                <a:lnTo>
                  <a:pt x="0" y="1623034"/>
                </a:lnTo>
                <a:lnTo>
                  <a:pt x="3570675" y="1623034"/>
                </a:lnTo>
                <a:lnTo>
                  <a:pt x="3570675" y="0"/>
                </a:lnTo>
                <a:close/>
              </a:path>
            </a:pathLst>
          </a:custGeom>
          <a:blipFill>
            <a:blip r:embed="rId12">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NZ"/>
          </a:p>
        </p:txBody>
      </p:sp>
      <p:pic>
        <p:nvPicPr>
          <p:cNvPr id="27" name="Picture 26">
            <a:extLst>
              <a:ext uri="{FF2B5EF4-FFF2-40B4-BE49-F238E27FC236}">
                <a16:creationId xmlns:a16="http://schemas.microsoft.com/office/drawing/2014/main" id="{FD2D5A00-4914-50A3-0F39-1648A7E318A4}"/>
              </a:ext>
            </a:extLst>
          </p:cNvPr>
          <p:cNvPicPr>
            <a:picLocks noChangeAspect="1"/>
          </p:cNvPicPr>
          <p:nvPr/>
        </p:nvPicPr>
        <p:blipFill>
          <a:blip r:embed="rId14"/>
          <a:stretch>
            <a:fillRect/>
          </a:stretch>
        </p:blipFill>
        <p:spPr>
          <a:xfrm>
            <a:off x="6564130" y="1898539"/>
            <a:ext cx="343342" cy="33983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a7e13e4-52bb-49b1-8c05-3027555ed828">
      <Terms xmlns="http://schemas.microsoft.com/office/infopath/2007/PartnerControls"/>
    </lcf76f155ced4ddcb4097134ff3c332f>
    <TaxCatchAll xmlns="2d9b38bf-c54e-40de-be20-2bfac34d650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F4D3ADF8F4E564ABF039AEF19C46360" ma:contentTypeVersion="14" ma:contentTypeDescription="Create a new document." ma:contentTypeScope="" ma:versionID="17b7601a6a9f03d82d49af68d0c51c88">
  <xsd:schema xmlns:xsd="http://www.w3.org/2001/XMLSchema" xmlns:xs="http://www.w3.org/2001/XMLSchema" xmlns:p="http://schemas.microsoft.com/office/2006/metadata/properties" xmlns:ns2="ba7e13e4-52bb-49b1-8c05-3027555ed828" xmlns:ns3="2d9b38bf-c54e-40de-be20-2bfac34d6501" targetNamespace="http://schemas.microsoft.com/office/2006/metadata/properties" ma:root="true" ma:fieldsID="5558252ab9599231f0308013cc56beee" ns2:_="" ns3:_="">
    <xsd:import namespace="ba7e13e4-52bb-49b1-8c05-3027555ed828"/>
    <xsd:import namespace="2d9b38bf-c54e-40de-be20-2bfac34d650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7e13e4-52bb-49b1-8c05-3027555ed8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5e9cd7a-283a-407b-9b45-84d2c2056e08"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d9b38bf-c54e-40de-be20-2bfac34d650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dc46c64-44f0-4565-8e3c-72b28f3d26ff}" ma:internalName="TaxCatchAll" ma:showField="CatchAllData" ma:web="2d9b38bf-c54e-40de-be20-2bfac34d650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haredContentType xmlns="Microsoft.SharePoint.Taxonomy.ContentTypeSync" SourceId="c5e9cd7a-283a-407b-9b45-84d2c2056e08" ContentTypeId="0x0101" PreviousValue="false"/>
</file>

<file path=customXml/itemProps1.xml><?xml version="1.0" encoding="utf-8"?>
<ds:datastoreItem xmlns:ds="http://schemas.openxmlformats.org/officeDocument/2006/customXml" ds:itemID="{CED4AF82-BDD0-46D6-A856-29E91B0B2F63}">
  <ds:schemaRefs>
    <ds:schemaRef ds:uri="http://schemas.microsoft.com/sharepoint/v3/contenttype/forms"/>
  </ds:schemaRefs>
</ds:datastoreItem>
</file>

<file path=customXml/itemProps2.xml><?xml version="1.0" encoding="utf-8"?>
<ds:datastoreItem xmlns:ds="http://schemas.openxmlformats.org/officeDocument/2006/customXml" ds:itemID="{6500237A-793B-4ED4-AB41-18AD821D13DE}">
  <ds:schemaRefs>
    <ds:schemaRef ds:uri="http://schemas.microsoft.com/office/2006/metadata/properties"/>
    <ds:schemaRef ds:uri="http://schemas.microsoft.com/office/infopath/2007/PartnerControls"/>
    <ds:schemaRef ds:uri="ba7e13e4-52bb-49b1-8c05-3027555ed828"/>
    <ds:schemaRef ds:uri="2d9b38bf-c54e-40de-be20-2bfac34d6501"/>
  </ds:schemaRefs>
</ds:datastoreItem>
</file>

<file path=customXml/itemProps3.xml><?xml version="1.0" encoding="utf-8"?>
<ds:datastoreItem xmlns:ds="http://schemas.openxmlformats.org/officeDocument/2006/customXml" ds:itemID="{38628D50-8FEB-4378-8CBE-222C4400CC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a7e13e4-52bb-49b1-8c05-3027555ed828"/>
    <ds:schemaRef ds:uri="2d9b38bf-c54e-40de-be20-2bfac34d650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F6567F08-8AFE-4B91-A65F-6AF69CA7B8B0}">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TotalTime>15</TotalTime>
  <Words>1405</Words>
  <Application>Microsoft Office PowerPoint</Application>
  <PresentationFormat>Custom</PresentationFormat>
  <Paragraphs>197</Paragraphs>
  <Slides>10</Slides>
  <Notes>9</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Cooper Hewitt</vt:lpstr>
      <vt:lpstr>Arial</vt:lpstr>
      <vt:lpstr>Calibri</vt:lpstr>
      <vt:lpstr>DM Sans</vt:lpstr>
      <vt:lpstr>Cooper Hewitt Bold</vt:lpstr>
      <vt:lpstr>DM Sans Bold</vt:lpstr>
      <vt:lpstr>Mokoto Glitch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p4p Prezz</dc:title>
  <cp:lastModifiedBy>Kristelle Sampang</cp:lastModifiedBy>
  <cp:revision>2</cp:revision>
  <dcterms:created xsi:type="dcterms:W3CDTF">2006-08-16T00:00:00Z</dcterms:created>
  <dcterms:modified xsi:type="dcterms:W3CDTF">2025-07-25T20:56:48Z</dcterms:modified>
  <dc:identifier>DAGt-WMbs3s</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0x010100BF4D3ADF8F4E564ABF039AEF19C46360</vt:lpwstr>
  </property>
  <property fmtid="{D5CDD505-2E9C-101B-9397-08002B2CF9AE}" pid="3" name="MediaServiceImageTags">
    <vt:lpwstr/>
  </property>
</Properties>
</file>